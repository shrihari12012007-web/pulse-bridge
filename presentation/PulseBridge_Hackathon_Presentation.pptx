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846E-6B4A-BED0-AFE3-62BA192AD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9D8AD-EE04-45CE-FDF7-99AF2EB11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1BE7E-C726-7FF9-0636-B918CC12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3BED-55F8-E51E-32CA-9BE2BC39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17929-8FA4-03CD-6AAD-BF69F3F8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714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BDDB-7CA1-B6CE-859D-2635ABC7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6174-795D-FE0F-35DD-C8811AD09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04C9A-0F2C-E5E5-A8D1-B2DBA82F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A52B1-27DA-822D-6CC5-69B6A34D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A6FC4-067C-01F8-6777-B92D8231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4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A4C0-E6ED-138C-0442-D69C1E75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34738-1653-97DD-21FA-F44A59A51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0A207-5304-8ED6-F2ED-54287623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49311-1CDA-D061-3CBD-7713AB56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AA98C-9814-67C7-F68D-6810CA92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1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23F4-FBC5-9E84-9605-773A5D28A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6401E-5816-0456-86FB-A3093782C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FC4E3-D697-D0B7-4FE5-7FDD0F5A1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48002-C9F5-2887-ABF7-788C95E3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7F32F-12EA-39B4-EA21-E769C609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F1DB1-3ACA-A8C8-1FC5-5487F297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38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7C4F-4E34-C75E-0430-53118783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1F191-963F-B9C6-E9CC-40A130D16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6179B-5C54-ECD0-7461-A73BB4772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E52BD-8142-6348-8C20-1514E9FEA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B8D51-836D-23D2-E5CD-F2CE29245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5A211-A32E-DBA7-FE3E-53F9A2D0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A2543-7DAC-1A08-83F5-66B0683F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8DFE5-AB2C-B2F0-9AD8-F97984C1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35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A42C-4240-3BAB-031F-A5EB954B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464E5-222D-B10B-1F5F-9DD74C83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A5BBC-23F1-B7AB-0A5F-B296EA5E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59F75-D806-71E0-750B-6EDB6BE2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44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375E3-AD51-240C-8CE6-3098C535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ECBF8-A79A-880F-C4FA-59306617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CE930-FC73-FB4F-3DE4-D736B451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2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958E-EE0E-0CDF-7739-D5CB2F35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28A8A-BD66-D9C8-DDBF-5BB881E7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65E2C-948F-02C9-16C2-1CB7B9492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B6C39-F6E2-9F89-6DE4-A86CB989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39A1E-66C0-592E-20C0-33AEB249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30570-472E-E3BF-ACAB-9AACF2B1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48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DE86-DDF2-BF90-B5BC-184CCE7D8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0D45E-2082-C483-7192-8AFD76E0406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5DDA6-31F6-C5C9-B949-F4F9A570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03E53-861B-B922-9243-789717A9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4BE37-FFF3-383C-055D-9A9E25C2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4AB15-221E-4CC3-3C73-6BDF1825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96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9B52-E652-8B29-805C-F2BB8DB2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6F9C9-9870-0C95-34B6-D4657FB5C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E059-C573-0C4A-4608-EE1D39C1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DB3F8-1388-06CC-B6FF-ADE7892D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4069E-A0AE-A31B-DA61-0A30310C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99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EA76B-FA9D-B6B9-0D8C-05110CA9E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961B5-9051-F219-1C97-1716A1AF3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A435C-721C-F5BA-F049-ABC71757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41A3B-EDF8-B4AB-9BBB-D6F6B956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5B19A-EB3A-27C5-44AD-DFAFDBBC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31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27936-EDF1-A241-9F29-7E2419FE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A6A2-AF60-0E99-2CA0-E3445624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FB566-4789-D98F-36EE-92CB345AD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AEC74-223F-479A-BA30-424E9C31518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DE924-D29D-1755-E125-D3BA66EA1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CCDC-5E0B-C23C-01CC-AA21DFEAA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81906-8923-450C-A6B2-BE9CE338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8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A2FA30-90D2-BC5F-DFF8-7B150E464B5E}"/>
              </a:ext>
            </a:extLst>
          </p:cNvPr>
          <p:cNvSpPr/>
          <p:nvPr/>
        </p:nvSpPr>
        <p:spPr>
          <a:xfrm>
            <a:off x="635000" y="457200"/>
            <a:ext cx="6096000" cy="3048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tlCol="0" anchor="ctr"/>
          <a:lstStyle/>
          <a:p>
            <a:pPr algn="ctr"/>
            <a:r>
              <a:rPr lang="en-US" sz="850" b="1">
                <a:solidFill>
                  <a:srgbClr val="00E5FF"/>
                </a:solidFill>
                <a:latin typeface="Segoe UI" panose="020B0502040204020203" pitchFamily="34" charset="0"/>
              </a:rPr>
              <a:t>BUILDATHON 2.0 | KNEW-2K26 | PROBLEM H4: EMERGENCY HEALTH ASSISTANCE</a:t>
            </a:r>
            <a:endParaRPr lang="en-IN" sz="850" b="1">
              <a:solidFill>
                <a:srgbClr val="00E5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0AC7A-C7AE-AAAC-2664-62E39D48B21A}"/>
              </a:ext>
            </a:extLst>
          </p:cNvPr>
          <p:cNvSpPr txBox="1"/>
          <p:nvPr/>
        </p:nvSpPr>
        <p:spPr>
          <a:xfrm>
            <a:off x="584200" y="914400"/>
            <a:ext cx="6096000" cy="738664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4200" b="1">
                <a:solidFill>
                  <a:srgbClr val="FFFFFF"/>
                </a:solidFill>
                <a:latin typeface="Segoe UI" panose="020B0502040204020203" pitchFamily="34" charset="0"/>
              </a:rPr>
              <a:t>PulseBridge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E8E722-37C6-85F0-91A4-7B2F1AC240A1}"/>
              </a:ext>
            </a:extLst>
          </p:cNvPr>
          <p:cNvSpPr txBox="1"/>
          <p:nvPr/>
        </p:nvSpPr>
        <p:spPr>
          <a:xfrm>
            <a:off x="609600" y="1701800"/>
            <a:ext cx="6096000" cy="35394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700" b="1">
                <a:solidFill>
                  <a:srgbClr val="38BDF8"/>
                </a:solidFill>
                <a:latin typeface="Segoe UI" panose="020B0502040204020203" pitchFamily="34" charset="0"/>
              </a:rPr>
              <a:t>Emergency Response &amp; Coordination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CCD78-5CBC-C7CC-0595-53D3BD73409E}"/>
              </a:ext>
            </a:extLst>
          </p:cNvPr>
          <p:cNvSpPr txBox="1"/>
          <p:nvPr/>
        </p:nvSpPr>
        <p:spPr>
          <a:xfrm>
            <a:off x="609600" y="2159000"/>
            <a:ext cx="6096000" cy="269304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1150">
                <a:solidFill>
                  <a:srgbClr val="E2E8F0"/>
                </a:solidFill>
                <a:latin typeface="Segoe UI" panose="020B0502040204020203" pitchFamily="34" charset="0"/>
              </a:rPr>
              <a:t>Connecting emergency reporting, incident tracking, and tactical responder coordination.</a:t>
            </a:r>
            <a:endParaRPr lang="en-IN" sz="11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9CED6E-E3B8-1D97-66EF-D88D2E3C0698}"/>
              </a:ext>
            </a:extLst>
          </p:cNvPr>
          <p:cNvSpPr/>
          <p:nvPr/>
        </p:nvSpPr>
        <p:spPr>
          <a:xfrm>
            <a:off x="635000" y="2921000"/>
            <a:ext cx="5842000" cy="3175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C6EE5-A925-DF3B-9AE2-B898A9F3CE1D}"/>
              </a:ext>
            </a:extLst>
          </p:cNvPr>
          <p:cNvSpPr txBox="1"/>
          <p:nvPr/>
        </p:nvSpPr>
        <p:spPr>
          <a:xfrm>
            <a:off x="825500" y="3048000"/>
            <a:ext cx="546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0E5FF"/>
                </a:solidFill>
                <a:latin typeface="Segoe UI" panose="020B0502040204020203" pitchFamily="34" charset="0"/>
              </a:rPr>
              <a:t>PROJECT &amp; TEAM DETAILS (EDITABLE PLACEHOLDERS)</a:t>
            </a:r>
            <a:endParaRPr lang="en-IN" sz="1000" b="1">
              <a:solidFill>
                <a:srgbClr val="00E5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8B4B3-F5F9-BF22-E8E3-4F98D6C6FE69}"/>
              </a:ext>
            </a:extLst>
          </p:cNvPr>
          <p:cNvSpPr txBox="1"/>
          <p:nvPr/>
        </p:nvSpPr>
        <p:spPr>
          <a:xfrm>
            <a:off x="825500" y="3403600"/>
            <a:ext cx="54610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* Team Name: [Your Team Name / Team ID]
* Presenters: [Lead Presenter, Member 2, Member 3]
* Institution: [College / University / Organization Name]
* Hackathon Track: H4 - Emergency Health Assistance
* Live Web Platform: shrihari12012007-web.github.io/Pulse-Bridge/
* GitHub Repository: github.com/shrihari12012007-web/Pulse-Bridge
* Prototype Status: Fully Functional Interactive Web &amp; CAD Demo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83CCF0-1779-3420-6EE7-BD876506511F}"/>
              </a:ext>
            </a:extLst>
          </p:cNvPr>
          <p:cNvSpPr/>
          <p:nvPr/>
        </p:nvSpPr>
        <p:spPr>
          <a:xfrm>
            <a:off x="6731000" y="635000"/>
            <a:ext cx="4826000" cy="5461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5FFD16-132F-7359-6FCB-BE305461C3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825500"/>
            <a:ext cx="4445000" cy="2768600"/>
          </a:xfrm>
          <a:prstGeom prst="rect">
            <a:avLst/>
          </a:prstGeom>
          <a:ln w="12700">
            <a:solidFill>
              <a:srgbClr val="1E3A5F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E9D675-0D4B-94B0-C393-91B930E3C6BF}"/>
              </a:ext>
            </a:extLst>
          </p:cNvPr>
          <p:cNvSpPr txBox="1"/>
          <p:nvPr/>
        </p:nvSpPr>
        <p:spPr>
          <a:xfrm>
            <a:off x="6921500" y="3683000"/>
            <a:ext cx="4445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50" b="1">
                <a:solidFill>
                  <a:srgbClr val="00E5FF"/>
                </a:solidFill>
                <a:latin typeface="Segoe UI" panose="020B0502040204020203" pitchFamily="34" charset="0"/>
              </a:rPr>
              <a:t>INTEGRATED EMERGENCY RESPONSE SUITE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46C5B-93F9-03E7-E6D6-00E82256696C}"/>
              </a:ext>
            </a:extLst>
          </p:cNvPr>
          <p:cNvSpPr/>
          <p:nvPr/>
        </p:nvSpPr>
        <p:spPr>
          <a:xfrm>
            <a:off x="6921500" y="4038600"/>
            <a:ext cx="2133600" cy="812800"/>
          </a:xfrm>
          <a:prstGeom prst="rect">
            <a:avLst/>
          </a:prstGeom>
          <a:solidFill>
            <a:srgbClr val="3C1016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>
                <a:solidFill>
                  <a:srgbClr val="FFFFFF"/>
                </a:solidFill>
                <a:latin typeface="Segoe UI" panose="020B0502040204020203" pitchFamily="34" charset="0"/>
              </a:rPr>
              <a:t>1-Tap SOS Dispatch
False-alarm buffer + 112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1020DF-7A32-4C1C-4B1F-F999D0EFA69C}"/>
              </a:ext>
            </a:extLst>
          </p:cNvPr>
          <p:cNvSpPr/>
          <p:nvPr/>
        </p:nvSpPr>
        <p:spPr>
          <a:xfrm>
            <a:off x="9232900" y="4038600"/>
            <a:ext cx="2133600" cy="812800"/>
          </a:xfrm>
          <a:prstGeom prst="rect">
            <a:avLst/>
          </a:prstGeom>
          <a:solidFill>
            <a:srgbClr val="0E1B33"/>
          </a:solidFill>
          <a:ln w="1270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>
                <a:solidFill>
                  <a:srgbClr val="FFFFFF"/>
                </a:solidFill>
                <a:latin typeface="Segoe UI" panose="020B0502040204020203" pitchFamily="34" charset="0"/>
              </a:rPr>
              <a:t>GPS &amp; Indoor Landmark
Sensory fix + room/floor notes</a:t>
            </a:r>
            <a:endParaRPr lang="en-IN" sz="8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E31AFE-869F-A464-C930-3568C2C3B9FB}"/>
              </a:ext>
            </a:extLst>
          </p:cNvPr>
          <p:cNvSpPr/>
          <p:nvPr/>
        </p:nvSpPr>
        <p:spPr>
          <a:xfrm>
            <a:off x="6921500" y="4978400"/>
            <a:ext cx="2133600" cy="812800"/>
          </a:xfrm>
          <a:prstGeom prst="rect">
            <a:avLst/>
          </a:prstGeom>
          <a:solidFill>
            <a:srgbClr val="0E1B33"/>
          </a:solidFill>
          <a:ln w="1270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>
                <a:solidFill>
                  <a:srgbClr val="FFFFFF"/>
                </a:solidFill>
                <a:latin typeface="Segoe UI" panose="020B0502040204020203" pitchFamily="34" charset="0"/>
              </a:rPr>
              <a:t>Realtime Ref ID Tracking
Zero-login transparent updates</a:t>
            </a:r>
            <a:endParaRPr lang="en-IN" sz="8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3E84EB-A461-D98A-18DB-BE2464733DAA}"/>
              </a:ext>
            </a:extLst>
          </p:cNvPr>
          <p:cNvSpPr/>
          <p:nvPr/>
        </p:nvSpPr>
        <p:spPr>
          <a:xfrm>
            <a:off x="9232900" y="4978400"/>
            <a:ext cx="2133600" cy="812800"/>
          </a:xfrm>
          <a:prstGeom prst="rect">
            <a:avLst/>
          </a:prstGeom>
          <a:solidFill>
            <a:srgbClr val="10321E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>
                <a:solidFill>
                  <a:srgbClr val="FFFFFF"/>
                </a:solidFill>
                <a:latin typeface="Segoe UI" panose="020B0502040204020203" pitchFamily="34" charset="0"/>
              </a:rPr>
              <a:t>Tactical CAD Dashboard
Leaflet map &amp; unit dispatch</a:t>
            </a:r>
            <a:endParaRPr lang="en-IN" sz="8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08797-E408-310E-5543-96017CF534FE}"/>
              </a:ext>
            </a:extLst>
          </p:cNvPr>
          <p:cNvSpPr txBox="1"/>
          <p:nvPr/>
        </p:nvSpPr>
        <p:spPr>
          <a:xfrm>
            <a:off x="635000" y="6527800"/>
            <a:ext cx="1092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1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129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</p:transition>
    </mc:Choice>
    <mc:Fallback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1369FE-4365-5FFA-E95E-9767D3903A80}"/>
              </a:ext>
            </a:extLst>
          </p:cNvPr>
          <p:cNvSpPr/>
          <p:nvPr/>
        </p:nvSpPr>
        <p:spPr>
          <a:xfrm>
            <a:off x="635000" y="304800"/>
            <a:ext cx="27432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PROBLEM STATEMENT &amp;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37610-259F-7732-6CEC-8578858CC15C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The Emergency Coordination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FB085-C794-B1E2-E4AD-B0F88B8A053A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Critical bottlenecks in campus, industrial, and community crisis response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FA3F7-BD15-E569-4DEA-A7D204317A1A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2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87BB02-A1C1-2A36-C9D5-271424E02819}"/>
              </a:ext>
            </a:extLst>
          </p:cNvPr>
          <p:cNvSpPr/>
          <p:nvPr/>
        </p:nvSpPr>
        <p:spPr>
          <a:xfrm>
            <a:off x="635000" y="1460500"/>
            <a:ext cx="5334000" cy="1841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38423-B22F-0667-1F67-0171FA678CEC}"/>
              </a:ext>
            </a:extLst>
          </p:cNvPr>
          <p:cNvSpPr txBox="1"/>
          <p:nvPr/>
        </p:nvSpPr>
        <p:spPr>
          <a:xfrm>
            <a:off x="825500" y="1587500"/>
            <a:ext cx="3302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01. Delayed Incident Reporting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F4F02B-0B3D-3757-8FC2-00B5347C6817}"/>
              </a:ext>
            </a:extLst>
          </p:cNvPr>
          <p:cNvSpPr/>
          <p:nvPr/>
        </p:nvSpPr>
        <p:spPr>
          <a:xfrm>
            <a:off x="4254500" y="1587500"/>
            <a:ext cx="1524000" cy="228600"/>
          </a:xfrm>
          <a:prstGeom prst="rect">
            <a:avLst/>
          </a:prstGeom>
          <a:solidFill>
            <a:srgbClr val="3C1016"/>
          </a:solidFill>
          <a:ln w="9525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EF4444"/>
                </a:solidFill>
                <a:latin typeface="Segoe UI" panose="020B0502040204020203" pitchFamily="34" charset="0"/>
              </a:rPr>
              <a:t>CRITICAL 5-10 MIN LOSS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93D67-46D3-80E7-E2D1-2CA4605C4FEB}"/>
              </a:ext>
            </a:extLst>
          </p:cNvPr>
          <p:cNvSpPr txBox="1"/>
          <p:nvPr/>
        </p:nvSpPr>
        <p:spPr>
          <a:xfrm>
            <a:off x="825500" y="1943100"/>
            <a:ext cx="4953000" cy="63094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E2E8F0"/>
                </a:solidFill>
                <a:latin typeface="Segoe UI" panose="020B0502040204020203" pitchFamily="34" charset="0"/>
              </a:rPr>
              <a:t>* Panic and shock prevent callers from finding phone numbers or explaining symptoms.
* Bystanders hesitate or assume someone else has called, losing the vital Golden Hour window.
* Phone lines are frequently busy or require lengthy manual address verification.</a:t>
            </a:r>
            <a:endParaRPr lang="en-IN" sz="9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B66B8-8800-FC3A-E164-B5732B053E33}"/>
              </a:ext>
            </a:extLst>
          </p:cNvPr>
          <p:cNvSpPr/>
          <p:nvPr/>
        </p:nvSpPr>
        <p:spPr>
          <a:xfrm>
            <a:off x="6223000" y="1460500"/>
            <a:ext cx="5334000" cy="1841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E0102-B724-AA32-B5B0-A6DD10858832}"/>
              </a:ext>
            </a:extLst>
          </p:cNvPr>
          <p:cNvSpPr txBox="1"/>
          <p:nvPr/>
        </p:nvSpPr>
        <p:spPr>
          <a:xfrm>
            <a:off x="6413500" y="1587500"/>
            <a:ext cx="3302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02. Incomplete Location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2BD881-D889-5F8D-5DA5-9AC539FFA281}"/>
              </a:ext>
            </a:extLst>
          </p:cNvPr>
          <p:cNvSpPr/>
          <p:nvPr/>
        </p:nvSpPr>
        <p:spPr>
          <a:xfrm>
            <a:off x="9842500" y="1587500"/>
            <a:ext cx="1524000" cy="228600"/>
          </a:xfrm>
          <a:prstGeom prst="rect">
            <a:avLst/>
          </a:prstGeom>
          <a:solidFill>
            <a:srgbClr val="37230A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F59E0B"/>
                </a:solidFill>
                <a:latin typeface="Segoe UI" panose="020B0502040204020203" pitchFamily="34" charset="0"/>
              </a:rPr>
              <a:t>INDOOR LOCATION DRIFT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D497D-92BE-D1DE-1A2A-01594BE2455F}"/>
              </a:ext>
            </a:extLst>
          </p:cNvPr>
          <p:cNvSpPr txBox="1"/>
          <p:nvPr/>
        </p:nvSpPr>
        <p:spPr>
          <a:xfrm>
            <a:off x="6413500" y="1943100"/>
            <a:ext cx="4953000" cy="63094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E2E8F0"/>
                </a:solidFill>
                <a:latin typeface="Segoe UI" panose="020B0502040204020203" pitchFamily="34" charset="0"/>
              </a:rPr>
              <a:t>* GPS signals fail or drift by 50+ meters inside multi-story concrete buildings and labs.
* Responders receive vague locations ("somewhere in Block B") with no floor or room number.
* Emergency teams waste 4 to 8 minutes searching corridors instead of delivering care.</a:t>
            </a:r>
            <a:endParaRPr lang="en-IN" sz="9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2885D-E653-C7DF-185D-E1F82A41B36A}"/>
              </a:ext>
            </a:extLst>
          </p:cNvPr>
          <p:cNvSpPr/>
          <p:nvPr/>
        </p:nvSpPr>
        <p:spPr>
          <a:xfrm>
            <a:off x="635000" y="3492500"/>
            <a:ext cx="5334000" cy="1841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FC87D-1416-A005-A48B-DEEDEAA17BF1}"/>
              </a:ext>
            </a:extLst>
          </p:cNvPr>
          <p:cNvSpPr txBox="1"/>
          <p:nvPr/>
        </p:nvSpPr>
        <p:spPr>
          <a:xfrm>
            <a:off x="825500" y="3619500"/>
            <a:ext cx="3302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03. Difficulty Coordinating Responders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84839-2D3C-1ABD-5040-05FEABB043C6}"/>
              </a:ext>
            </a:extLst>
          </p:cNvPr>
          <p:cNvSpPr/>
          <p:nvPr/>
        </p:nvSpPr>
        <p:spPr>
          <a:xfrm>
            <a:off x="4254500" y="3619500"/>
            <a:ext cx="1524000" cy="228600"/>
          </a:xfrm>
          <a:prstGeom prst="rect">
            <a:avLst/>
          </a:prstGeom>
          <a:solidFill>
            <a:srgbClr val="3C1016"/>
          </a:solidFill>
          <a:ln w="9525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EF4444"/>
                </a:solidFill>
                <a:latin typeface="Segoe UI" panose="020B0502040204020203" pitchFamily="34" charset="0"/>
              </a:rPr>
              <a:t>NO UNIFIED CAD CONSOLE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CA2F96-FE7E-321B-CAD4-6CA7F117A25E}"/>
              </a:ext>
            </a:extLst>
          </p:cNvPr>
          <p:cNvSpPr txBox="1"/>
          <p:nvPr/>
        </p:nvSpPr>
        <p:spPr>
          <a:xfrm>
            <a:off x="825500" y="3975100"/>
            <a:ext cx="4953000" cy="48474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E2E8F0"/>
                </a:solidFill>
                <a:latin typeface="Segoe UI" panose="020B0502040204020203" pitchFamily="34" charset="0"/>
              </a:rPr>
              <a:t>* Response teams rely on uncoordinated phone calls, chat groups, or verbal shouts.
* No centralized Computer-Aided Dispatch (CAD) console to triage priority or assign units.
* Leads to duplicate dispatches to one incident while another critical patient is unattended.</a:t>
            </a:r>
            <a:endParaRPr lang="en-IN" sz="9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B89F26-8170-1AD8-1CEF-CFF2C1178406}"/>
              </a:ext>
            </a:extLst>
          </p:cNvPr>
          <p:cNvSpPr/>
          <p:nvPr/>
        </p:nvSpPr>
        <p:spPr>
          <a:xfrm>
            <a:off x="6223000" y="3492500"/>
            <a:ext cx="5334000" cy="1841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8192C4-B0EF-0289-35A4-924B5F3C5A98}"/>
              </a:ext>
            </a:extLst>
          </p:cNvPr>
          <p:cNvSpPr txBox="1"/>
          <p:nvPr/>
        </p:nvSpPr>
        <p:spPr>
          <a:xfrm>
            <a:off x="6413500" y="3619500"/>
            <a:ext cx="3302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04. Lack of Clear Status Visibility</a:t>
            </a:r>
            <a:endParaRPr lang="en-IN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F29BAA-DACA-EBAD-264A-81641ADCC342}"/>
              </a:ext>
            </a:extLst>
          </p:cNvPr>
          <p:cNvSpPr/>
          <p:nvPr/>
        </p:nvSpPr>
        <p:spPr>
          <a:xfrm>
            <a:off x="9842500" y="3619500"/>
            <a:ext cx="1524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38BDF8"/>
                </a:solidFill>
                <a:latin typeface="Segoe UI" panose="020B0502040204020203" pitchFamily="34" charset="0"/>
              </a:rPr>
              <a:t>ANXIETY &amp; BLIND SPOTS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6B7C0A-CCFF-476D-E582-CD0033772B1D}"/>
              </a:ext>
            </a:extLst>
          </p:cNvPr>
          <p:cNvSpPr txBox="1"/>
          <p:nvPr/>
        </p:nvSpPr>
        <p:spPr>
          <a:xfrm>
            <a:off x="6413500" y="3975100"/>
            <a:ext cx="4953000" cy="48474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E2E8F0"/>
                </a:solidFill>
                <a:latin typeface="Segoe UI" panose="020B0502040204020203" pitchFamily="34" charset="0"/>
              </a:rPr>
              <a:t>* Citizens receive zero confirmation on whether their emergency alert was acknowledged.
* Lack of feedback triggers extreme anxiety and repeated duplicate emergency calls.
* No audit trail exists to evaluate response latency or responder accountability.</a:t>
            </a:r>
            <a:endParaRPr lang="en-IN" sz="9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84C4D-6CC1-A7D8-9044-B5290A96292D}"/>
              </a:ext>
            </a:extLst>
          </p:cNvPr>
          <p:cNvSpPr/>
          <p:nvPr/>
        </p:nvSpPr>
        <p:spPr>
          <a:xfrm>
            <a:off x="635000" y="5524500"/>
            <a:ext cx="10922000" cy="787400"/>
          </a:xfrm>
          <a:prstGeom prst="rect">
            <a:avLst/>
          </a:prstGeom>
          <a:solidFill>
            <a:srgbClr val="13233F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AFA2A-80FC-0293-90AA-EEE5FF632BF5}"/>
              </a:ext>
            </a:extLst>
          </p:cNvPr>
          <p:cNvSpPr txBox="1"/>
          <p:nvPr/>
        </p:nvSpPr>
        <p:spPr>
          <a:xfrm>
            <a:off x="825500" y="5613400"/>
            <a:ext cx="1054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00E5FF"/>
                </a:solidFill>
                <a:latin typeface="Segoe UI" panose="020B0502040204020203" pitchFamily="34" charset="0"/>
              </a:rPr>
              <a:t>HACKATHON INSIGHT: Over 80% of emergency response delay occurs in the first 5 minutes due to manual reporting, lost indoor context, and uncoordinated dispatch. PulseBridge directly eliminates these failure points.</a:t>
            </a:r>
            <a:endParaRPr lang="en-IN" sz="1000" b="1">
              <a:solidFill>
                <a:srgbClr val="00E5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258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42E7F8-B256-8041-437D-3AE2795EE95D}"/>
              </a:ext>
            </a:extLst>
          </p:cNvPr>
          <p:cNvSpPr/>
          <p:nvPr/>
        </p:nvSpPr>
        <p:spPr>
          <a:xfrm>
            <a:off x="635000" y="304800"/>
            <a:ext cx="23876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THE PULSEBRIDGE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95E90-4577-5E54-9C51-EF09D1D9234D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Our Solution: Connected Emergency Coordination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39C40-8C19-60FF-F1D9-BCC28125D55E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Bridging emergency reporting, location telemetry, tracking, and tactical responders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E3235-09E1-BBFF-8880-7F9758EEF034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3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0D544-941A-1C0D-65E9-1E800ECE8030}"/>
              </a:ext>
            </a:extLst>
          </p:cNvPr>
          <p:cNvSpPr/>
          <p:nvPr/>
        </p:nvSpPr>
        <p:spPr>
          <a:xfrm>
            <a:off x="635000" y="1460500"/>
            <a:ext cx="3429000" cy="3302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15A9CA-B55D-C265-910E-BEAB4F7C8990}"/>
              </a:ext>
            </a:extLst>
          </p:cNvPr>
          <p:cNvSpPr/>
          <p:nvPr/>
        </p:nvSpPr>
        <p:spPr>
          <a:xfrm>
            <a:off x="825500" y="16256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EF4444"/>
                </a:solidFill>
                <a:latin typeface="Segoe UI" panose="020B0502040204020203" pitchFamily="34" charset="0"/>
              </a:rPr>
              <a:t>CITIZEN REPORTING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8F5A8-D11A-7826-0A50-33BB439C4B97}"/>
              </a:ext>
            </a:extLst>
          </p:cNvPr>
          <p:cNvSpPr txBox="1"/>
          <p:nvPr/>
        </p:nvSpPr>
        <p:spPr>
          <a:xfrm>
            <a:off x="825500" y="1930400"/>
            <a:ext cx="3048000" cy="30777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Rapid SOS &amp; Hotlines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3F74E-924C-7D15-E01E-83949AA4C257}"/>
              </a:ext>
            </a:extLst>
          </p:cNvPr>
          <p:cNvSpPr txBox="1"/>
          <p:nvPr/>
        </p:nvSpPr>
        <p:spPr>
          <a:xfrm>
            <a:off x="825500" y="2336800"/>
            <a:ext cx="3048000" cy="126188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E2E8F0"/>
                </a:solidFill>
                <a:latin typeface="Segoe UI" panose="020B0502040204020203" pitchFamily="34" charset="0"/>
              </a:rPr>
              <a:t>* Single-Tap SOS Trigger: Large accessible button with 3s cancel buffer to prevent false alarms.
* Direct 112 Hotline: Permanent direct dial button to official emergency services, never blocked by login.
* Consented Health Snapshot: Securely attaches blood group, allergies, and emergency contacts.</a:t>
            </a:r>
            <a:endParaRPr lang="en-IN" sz="9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1EEBA3-84D0-DAC7-0ED6-34A3BD1B1DA4}"/>
              </a:ext>
            </a:extLst>
          </p:cNvPr>
          <p:cNvSpPr/>
          <p:nvPr/>
        </p:nvSpPr>
        <p:spPr>
          <a:xfrm>
            <a:off x="4381500" y="1460500"/>
            <a:ext cx="3429000" cy="3302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847A46-BA9F-C700-FFCB-8FDD3DA2EB35}"/>
              </a:ext>
            </a:extLst>
          </p:cNvPr>
          <p:cNvSpPr/>
          <p:nvPr/>
        </p:nvSpPr>
        <p:spPr>
          <a:xfrm>
            <a:off x="4572000" y="16256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00E5FF"/>
                </a:solidFill>
                <a:latin typeface="Segoe UI" panose="020B0502040204020203" pitchFamily="34" charset="0"/>
              </a:rPr>
              <a:t>LOCATION &amp; TRACKING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0FB4E-1116-0233-42F1-D4577E17844B}"/>
              </a:ext>
            </a:extLst>
          </p:cNvPr>
          <p:cNvSpPr txBox="1"/>
          <p:nvPr/>
        </p:nvSpPr>
        <p:spPr>
          <a:xfrm>
            <a:off x="4572000" y="1930400"/>
            <a:ext cx="3048000" cy="30777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Dual Location Engine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A8827-8D50-E158-66A4-BC2D1D12A29D}"/>
              </a:ext>
            </a:extLst>
          </p:cNvPr>
          <p:cNvSpPr txBox="1"/>
          <p:nvPr/>
        </p:nvSpPr>
        <p:spPr>
          <a:xfrm>
            <a:off x="4572000" y="2336800"/>
            <a:ext cx="3048000" cy="126188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E2E8F0"/>
                </a:solidFill>
                <a:latin typeface="Segoe UI" panose="020B0502040204020203" pitchFamily="34" charset="0"/>
              </a:rPr>
              <a:t>* GPS Sensor Telemetry: Captures precise latitude, longitude, and accuracy radius confidence.
* Indoor Landmark Fallback: Room, floor, wing, and building notes for GPS-denied environments.
* Unique Reference Token: Issues trackable reference IDs (e.g. PB-2026-9812) for zero-barrier updates.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8EB972-A03A-1ACC-C941-8BC8E4F675BE}"/>
              </a:ext>
            </a:extLst>
          </p:cNvPr>
          <p:cNvSpPr/>
          <p:nvPr/>
        </p:nvSpPr>
        <p:spPr>
          <a:xfrm>
            <a:off x="8128000" y="1460500"/>
            <a:ext cx="3429000" cy="3302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B7ADD-35FD-EB00-37F1-A2AA9FEAE427}"/>
              </a:ext>
            </a:extLst>
          </p:cNvPr>
          <p:cNvSpPr/>
          <p:nvPr/>
        </p:nvSpPr>
        <p:spPr>
          <a:xfrm>
            <a:off x="8318500" y="16256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IN" sz="750" b="1">
                <a:solidFill>
                  <a:srgbClr val="22C55E"/>
                </a:solidFill>
                <a:latin typeface="Segoe UI" panose="020B0502040204020203" pitchFamily="34" charset="0"/>
              </a:rPr>
              <a:t>RESPONDER DISPATCH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E2A76-BFC7-938B-953A-4018C89C74A6}"/>
              </a:ext>
            </a:extLst>
          </p:cNvPr>
          <p:cNvSpPr txBox="1"/>
          <p:nvPr/>
        </p:nvSpPr>
        <p:spPr>
          <a:xfrm>
            <a:off x="8318500" y="1930400"/>
            <a:ext cx="3048000" cy="30777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Tactical CAD Console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F4F2EE-E603-D4EE-F75C-87D972E56F30}"/>
              </a:ext>
            </a:extLst>
          </p:cNvPr>
          <p:cNvSpPr txBox="1"/>
          <p:nvPr/>
        </p:nvSpPr>
        <p:spPr>
          <a:xfrm>
            <a:off x="8318500" y="2336800"/>
            <a:ext cx="3048000" cy="140807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E2E8F0"/>
                </a:solidFill>
                <a:latin typeface="Segoe UI" panose="020B0502040204020203" pitchFamily="34" charset="0"/>
              </a:rPr>
              <a:t>* Computer-Aided Dispatch: Dark Navy tactical dashboard with prioritized triage queues (Critical to Low).
* Interactive Leaflet Map: Color-coded status pins showing caller locations, accuracy, and landmark notes.
* CAD State Machine: Strict status progression: Submitted -&gt; Acknowledged -&gt; Assigned -&gt; Resolved.</a:t>
            </a:r>
            <a:endParaRPr lang="en-IN" sz="9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82A119-5823-AA5E-5864-033F6164CE92}"/>
              </a:ext>
            </a:extLst>
          </p:cNvPr>
          <p:cNvSpPr/>
          <p:nvPr/>
        </p:nvSpPr>
        <p:spPr>
          <a:xfrm>
            <a:off x="635000" y="4953000"/>
            <a:ext cx="10922000" cy="1333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786C3-4ABA-8733-F79F-0025F2CA0676}"/>
              </a:ext>
            </a:extLst>
          </p:cNvPr>
          <p:cNvSpPr txBox="1"/>
          <p:nvPr/>
        </p:nvSpPr>
        <p:spPr>
          <a:xfrm>
            <a:off x="825500" y="5029200"/>
            <a:ext cx="5080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SIMPLE CLOSED-LOOP WORKFLOW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996835-1F29-B866-8A5A-15C1D982D63B}"/>
              </a:ext>
            </a:extLst>
          </p:cNvPr>
          <p:cNvSpPr/>
          <p:nvPr/>
        </p:nvSpPr>
        <p:spPr>
          <a:xfrm>
            <a:off x="825500" y="5359400"/>
            <a:ext cx="1752600" cy="711200"/>
          </a:xfrm>
          <a:prstGeom prst="rect">
            <a:avLst/>
          </a:prstGeom>
          <a:solidFill>
            <a:srgbClr val="13233F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43183-061C-5A73-1983-1D42A21618AA}"/>
              </a:ext>
            </a:extLst>
          </p:cNvPr>
          <p:cNvSpPr txBox="1"/>
          <p:nvPr/>
        </p:nvSpPr>
        <p:spPr>
          <a:xfrm>
            <a:off x="825500" y="5410200"/>
            <a:ext cx="1752600" cy="389850"/>
          </a:xfrm>
          <a:prstGeom prst="rect">
            <a:avLst/>
          </a:prstGeom>
          <a:noFill/>
        </p:spPr>
        <p:txBody>
          <a:bodyPr vert="horz" tIns="5080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Citizen in Crisis
SOS Trigger</a:t>
            </a:r>
            <a:endParaRPr lang="en-IN" sz="9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322B38-7582-7316-5C8D-15F7D2B694D6}"/>
              </a:ext>
            </a:extLst>
          </p:cNvPr>
          <p:cNvSpPr txBox="1"/>
          <p:nvPr/>
        </p:nvSpPr>
        <p:spPr>
          <a:xfrm>
            <a:off x="2578100" y="5486400"/>
            <a:ext cx="444500" cy="343684"/>
          </a:xfrm>
          <a:prstGeom prst="rect">
            <a:avLst/>
          </a:prstGeom>
          <a:noFill/>
        </p:spPr>
        <p:txBody>
          <a:bodyPr vert="horz" lIns="0" tIns="50800" rtlCol="0">
            <a:spAutoFit/>
          </a:bodyPr>
          <a:lstStyle/>
          <a:p>
            <a:pPr algn="ctr"/>
            <a:r>
              <a:rPr lang="en-IN" sz="1600" b="1">
                <a:solidFill>
                  <a:srgbClr val="00E5FF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867C1-FF68-C1CB-DFC4-7781CB710AA8}"/>
              </a:ext>
            </a:extLst>
          </p:cNvPr>
          <p:cNvSpPr/>
          <p:nvPr/>
        </p:nvSpPr>
        <p:spPr>
          <a:xfrm>
            <a:off x="3022600" y="5359400"/>
            <a:ext cx="1752600" cy="711200"/>
          </a:xfrm>
          <a:prstGeom prst="rect">
            <a:avLst/>
          </a:prstGeom>
          <a:solidFill>
            <a:srgbClr val="13233F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A65C9E-E501-74B4-1247-FC42643376B1}"/>
              </a:ext>
            </a:extLst>
          </p:cNvPr>
          <p:cNvSpPr txBox="1"/>
          <p:nvPr/>
        </p:nvSpPr>
        <p:spPr>
          <a:xfrm>
            <a:off x="3022600" y="5410200"/>
            <a:ext cx="1752600" cy="389850"/>
          </a:xfrm>
          <a:prstGeom prst="rect">
            <a:avLst/>
          </a:prstGeom>
          <a:noFill/>
        </p:spPr>
        <p:txBody>
          <a:bodyPr vert="horz" tIns="5080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Incident Record
Ref ID + Telemetry</a:t>
            </a:r>
            <a:endParaRPr lang="en-IN" sz="9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745043-75F5-5958-5C01-4EDF5121EFC5}"/>
              </a:ext>
            </a:extLst>
          </p:cNvPr>
          <p:cNvSpPr txBox="1"/>
          <p:nvPr/>
        </p:nvSpPr>
        <p:spPr>
          <a:xfrm>
            <a:off x="4775200" y="5486400"/>
            <a:ext cx="444500" cy="343684"/>
          </a:xfrm>
          <a:prstGeom prst="rect">
            <a:avLst/>
          </a:prstGeom>
          <a:noFill/>
        </p:spPr>
        <p:txBody>
          <a:bodyPr vert="horz" lIns="0" tIns="50800" rtlCol="0">
            <a:spAutoFit/>
          </a:bodyPr>
          <a:lstStyle/>
          <a:p>
            <a:pPr algn="ctr"/>
            <a:r>
              <a:rPr lang="en-IN" sz="1600" b="1">
                <a:solidFill>
                  <a:srgbClr val="00E5FF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1983EB-C10E-0108-917D-8B48866FB5A3}"/>
              </a:ext>
            </a:extLst>
          </p:cNvPr>
          <p:cNvSpPr/>
          <p:nvPr/>
        </p:nvSpPr>
        <p:spPr>
          <a:xfrm>
            <a:off x="5219700" y="5359400"/>
            <a:ext cx="1752600" cy="711200"/>
          </a:xfrm>
          <a:prstGeom prst="rect">
            <a:avLst/>
          </a:prstGeom>
          <a:solidFill>
            <a:srgbClr val="13233F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DF516-A4CA-F1FB-689B-08D0DBE51293}"/>
              </a:ext>
            </a:extLst>
          </p:cNvPr>
          <p:cNvSpPr txBox="1"/>
          <p:nvPr/>
        </p:nvSpPr>
        <p:spPr>
          <a:xfrm>
            <a:off x="5219700" y="5410200"/>
            <a:ext cx="1752600" cy="389850"/>
          </a:xfrm>
          <a:prstGeom prst="rect">
            <a:avLst/>
          </a:prstGeom>
          <a:noFill/>
        </p:spPr>
        <p:txBody>
          <a:bodyPr vert="horz" tIns="50800" rtlCol="0">
            <a:sp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Segoe UI" panose="020B0502040204020203" pitchFamily="34" charset="0"/>
              </a:rPr>
              <a:t>CAD Triage
Acknowledge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67887C-A0F5-6DA9-CF64-EC0A462947E9}"/>
              </a:ext>
            </a:extLst>
          </p:cNvPr>
          <p:cNvSpPr txBox="1"/>
          <p:nvPr/>
        </p:nvSpPr>
        <p:spPr>
          <a:xfrm>
            <a:off x="6972300" y="5486400"/>
            <a:ext cx="444500" cy="343684"/>
          </a:xfrm>
          <a:prstGeom prst="rect">
            <a:avLst/>
          </a:prstGeom>
          <a:noFill/>
        </p:spPr>
        <p:txBody>
          <a:bodyPr vert="horz" lIns="0" tIns="50800" rtlCol="0">
            <a:spAutoFit/>
          </a:bodyPr>
          <a:lstStyle/>
          <a:p>
            <a:pPr algn="ctr"/>
            <a:r>
              <a:rPr lang="en-IN" sz="1600" b="1">
                <a:solidFill>
                  <a:srgbClr val="00E5FF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20E22F-AA6A-B3C0-035C-856737C0590A}"/>
              </a:ext>
            </a:extLst>
          </p:cNvPr>
          <p:cNvSpPr/>
          <p:nvPr/>
        </p:nvSpPr>
        <p:spPr>
          <a:xfrm>
            <a:off x="7416800" y="5359400"/>
            <a:ext cx="1752600" cy="711200"/>
          </a:xfrm>
          <a:prstGeom prst="rect">
            <a:avLst/>
          </a:prstGeom>
          <a:solidFill>
            <a:srgbClr val="13233F"/>
          </a:solidFill>
          <a:ln w="1270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B207E-DF6B-4FE5-0C02-5B240E22DB34}"/>
              </a:ext>
            </a:extLst>
          </p:cNvPr>
          <p:cNvSpPr txBox="1"/>
          <p:nvPr/>
        </p:nvSpPr>
        <p:spPr>
          <a:xfrm>
            <a:off x="7416800" y="5410200"/>
            <a:ext cx="1752600" cy="389850"/>
          </a:xfrm>
          <a:prstGeom prst="rect">
            <a:avLst/>
          </a:prstGeom>
          <a:noFill/>
        </p:spPr>
        <p:txBody>
          <a:bodyPr vert="horz" tIns="50800" rtlCol="0">
            <a:sp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Segoe UI" panose="020B0502040204020203" pitchFamily="34" charset="0"/>
              </a:rPr>
              <a:t>Responder Unit
Unit Assigned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E8A9A3-64BA-8736-C5AE-012DBAEDA0E4}"/>
              </a:ext>
            </a:extLst>
          </p:cNvPr>
          <p:cNvSpPr txBox="1"/>
          <p:nvPr/>
        </p:nvSpPr>
        <p:spPr>
          <a:xfrm>
            <a:off x="9169400" y="5486400"/>
            <a:ext cx="444500" cy="343684"/>
          </a:xfrm>
          <a:prstGeom prst="rect">
            <a:avLst/>
          </a:prstGeom>
          <a:noFill/>
        </p:spPr>
        <p:txBody>
          <a:bodyPr vert="horz" lIns="0" tIns="50800" rtlCol="0">
            <a:spAutoFit/>
          </a:bodyPr>
          <a:lstStyle/>
          <a:p>
            <a:pPr algn="ctr"/>
            <a:r>
              <a:rPr lang="en-IN" sz="1600" b="1">
                <a:solidFill>
                  <a:srgbClr val="00E5FF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2816E6-5821-FFC3-33B6-1C438DB5494F}"/>
              </a:ext>
            </a:extLst>
          </p:cNvPr>
          <p:cNvSpPr/>
          <p:nvPr/>
        </p:nvSpPr>
        <p:spPr>
          <a:xfrm>
            <a:off x="9613900" y="5359400"/>
            <a:ext cx="1752600" cy="711200"/>
          </a:xfrm>
          <a:prstGeom prst="rect">
            <a:avLst/>
          </a:prstGeom>
          <a:solidFill>
            <a:srgbClr val="13233F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340C38-069C-DDB5-3077-75E1E8046977}"/>
              </a:ext>
            </a:extLst>
          </p:cNvPr>
          <p:cNvSpPr txBox="1"/>
          <p:nvPr/>
        </p:nvSpPr>
        <p:spPr>
          <a:xfrm>
            <a:off x="9613900" y="5410200"/>
            <a:ext cx="1752600" cy="389850"/>
          </a:xfrm>
          <a:prstGeom prst="rect">
            <a:avLst/>
          </a:prstGeom>
          <a:noFill/>
        </p:spPr>
        <p:txBody>
          <a:bodyPr vert="horz" tIns="50800" rtlCol="0">
            <a:sp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Segoe UI" panose="020B0502040204020203" pitchFamily="34" charset="0"/>
              </a:rPr>
              <a:t>Resolution
Audit Logged</a:t>
            </a:r>
          </a:p>
        </p:txBody>
      </p:sp>
    </p:spTree>
    <p:extLst>
      <p:ext uri="{BB962C8B-B14F-4D97-AF65-F5344CB8AC3E}">
        <p14:creationId xmlns:p14="http://schemas.microsoft.com/office/powerpoint/2010/main" val="2933390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0554DD-DFE1-FB85-6578-A95C59A211CE}"/>
              </a:ext>
            </a:extLst>
          </p:cNvPr>
          <p:cNvSpPr/>
          <p:nvPr/>
        </p:nvSpPr>
        <p:spPr>
          <a:xfrm>
            <a:off x="635000" y="304800"/>
            <a:ext cx="1778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USER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C1817-2FEE-F73F-A23A-FB311D08303D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How PulseBridge Works: 4-Step Lifecycle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7034C-CD89-E270-6617-3B73F88A9594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Seamless operational path from emergency trigger to on-site medical resolution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F2473-845A-EC90-19A7-BC6DF6B3DF8A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4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4DE6D8-09C9-C4F7-AE7B-3D22DBC216C2}"/>
              </a:ext>
            </a:extLst>
          </p:cNvPr>
          <p:cNvSpPr/>
          <p:nvPr/>
        </p:nvSpPr>
        <p:spPr>
          <a:xfrm>
            <a:off x="635000" y="1460500"/>
            <a:ext cx="2565400" cy="3810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28E21D-273D-CA37-89D4-6D36C41DFF92}"/>
              </a:ext>
            </a:extLst>
          </p:cNvPr>
          <p:cNvSpPr/>
          <p:nvPr/>
        </p:nvSpPr>
        <p:spPr>
          <a:xfrm>
            <a:off x="787400" y="1625600"/>
            <a:ext cx="1016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STEP 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1B8A4-244F-BB34-AAEB-145C9D5F2816}"/>
              </a:ext>
            </a:extLst>
          </p:cNvPr>
          <p:cNvSpPr/>
          <p:nvPr/>
        </p:nvSpPr>
        <p:spPr>
          <a:xfrm>
            <a:off x="1879600" y="1625600"/>
            <a:ext cx="1168400" cy="254000"/>
          </a:xfrm>
          <a:prstGeom prst="rect">
            <a:avLst/>
          </a:prstGeom>
          <a:solidFill>
            <a:srgbClr val="3C1016"/>
          </a:solidFill>
          <a:ln w="9525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rtlCol="0" anchor="ctr"/>
          <a:lstStyle/>
          <a:p>
            <a:pPr algn="ctr"/>
            <a:r>
              <a:rPr lang="en-IN" sz="750" b="1">
                <a:solidFill>
                  <a:srgbClr val="EF4444"/>
                </a:solidFill>
                <a:latin typeface="Segoe UI" panose="020B0502040204020203" pitchFamily="34" charset="0"/>
              </a:rPr>
              <a:t>TIME: &lt; 5 SEC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9FF0A-61DE-0C2D-3317-E38698170020}"/>
              </a:ext>
            </a:extLst>
          </p:cNvPr>
          <p:cNvSpPr txBox="1"/>
          <p:nvPr/>
        </p:nvSpPr>
        <p:spPr>
          <a:xfrm>
            <a:off x="787400" y="1981200"/>
            <a:ext cx="2260600" cy="30008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350" b="1">
                <a:solidFill>
                  <a:srgbClr val="FFFFFF"/>
                </a:solidFill>
                <a:latin typeface="Segoe UI" panose="020B0502040204020203" pitchFamily="34" charset="0"/>
              </a:rPr>
              <a:t>Report Emergency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77249-CE70-DE6C-7143-E02F4D32B754}"/>
              </a:ext>
            </a:extLst>
          </p:cNvPr>
          <p:cNvSpPr txBox="1"/>
          <p:nvPr/>
        </p:nvSpPr>
        <p:spPr>
          <a:xfrm>
            <a:off x="787400" y="2387600"/>
            <a:ext cx="2260600" cy="115416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00">
                <a:solidFill>
                  <a:srgbClr val="E2E8F0"/>
                </a:solidFill>
                <a:latin typeface="Segoe UI" panose="020B0502040204020203" pitchFamily="34" charset="0"/>
              </a:rPr>
              <a:t>* Citizen triggers 1-tap emergency SOS on mobile or desktop browser.
* 3-second audible cancellation buffer prevents accidental activation.
* Direct 112 hotline fallback link is permanently available.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1D06F-BAAE-FEA4-2F00-88AE369503F8}"/>
              </a:ext>
            </a:extLst>
          </p:cNvPr>
          <p:cNvSpPr/>
          <p:nvPr/>
        </p:nvSpPr>
        <p:spPr>
          <a:xfrm>
            <a:off x="3416300" y="1460500"/>
            <a:ext cx="2565400" cy="3810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E7894A-DCC1-2F63-2054-0DDF042C38BD}"/>
              </a:ext>
            </a:extLst>
          </p:cNvPr>
          <p:cNvSpPr/>
          <p:nvPr/>
        </p:nvSpPr>
        <p:spPr>
          <a:xfrm>
            <a:off x="3568700" y="1625600"/>
            <a:ext cx="1016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STEP 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E3D839-8D2C-3611-54B7-5CB7F4D2E8FB}"/>
              </a:ext>
            </a:extLst>
          </p:cNvPr>
          <p:cNvSpPr/>
          <p:nvPr/>
        </p:nvSpPr>
        <p:spPr>
          <a:xfrm>
            <a:off x="4660900" y="1625600"/>
            <a:ext cx="11684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rtlCol="0" anchor="ctr"/>
          <a:lstStyle/>
          <a:p>
            <a:pPr algn="ctr"/>
            <a:r>
              <a:rPr lang="en-IN" sz="750" b="1">
                <a:solidFill>
                  <a:srgbClr val="38BDF8"/>
                </a:solidFill>
                <a:latin typeface="Segoe UI" panose="020B0502040204020203" pitchFamily="34" charset="0"/>
              </a:rPr>
              <a:t>LOCATION FIX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E2BC29-A0D9-8D89-9489-0FC4A85E1573}"/>
              </a:ext>
            </a:extLst>
          </p:cNvPr>
          <p:cNvSpPr txBox="1"/>
          <p:nvPr/>
        </p:nvSpPr>
        <p:spPr>
          <a:xfrm>
            <a:off x="3568700" y="1981200"/>
            <a:ext cx="2260600" cy="30008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350" b="1">
                <a:solidFill>
                  <a:srgbClr val="FFFFFF"/>
                </a:solidFill>
                <a:latin typeface="Segoe UI" panose="020B0502040204020203" pitchFamily="34" charset="0"/>
              </a:rPr>
              <a:t>Record Details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BA38E-8EA6-8165-B521-084D21978D8D}"/>
              </a:ext>
            </a:extLst>
          </p:cNvPr>
          <p:cNvSpPr txBox="1"/>
          <p:nvPr/>
        </p:nvSpPr>
        <p:spPr>
          <a:xfrm>
            <a:off x="3568700" y="2387600"/>
            <a:ext cx="2260600" cy="115416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00">
                <a:solidFill>
                  <a:srgbClr val="E2E8F0"/>
                </a:solidFill>
                <a:latin typeface="Segoe UI" panose="020B0502040204020203" pitchFamily="34" charset="0"/>
              </a:rPr>
              <a:t>* Browser Geolocation sensor captures latitude, longitude, and accuracy radius.
* Indoor landmark fallback allows instant entry of building, floor, or room.
* User consented medical profile (blood group, allergies) securely attached.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33EA8B-7ACC-AC92-C8FA-C3EA23F331A3}"/>
              </a:ext>
            </a:extLst>
          </p:cNvPr>
          <p:cNvSpPr/>
          <p:nvPr/>
        </p:nvSpPr>
        <p:spPr>
          <a:xfrm>
            <a:off x="6197600" y="1460500"/>
            <a:ext cx="2565400" cy="3810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0923F-85EE-CF03-8143-61F61D0DED49}"/>
              </a:ext>
            </a:extLst>
          </p:cNvPr>
          <p:cNvSpPr/>
          <p:nvPr/>
        </p:nvSpPr>
        <p:spPr>
          <a:xfrm>
            <a:off x="6350000" y="1625600"/>
            <a:ext cx="1016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STEP 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E61B5D-B6C9-DA02-B1C6-097DEE9857FD}"/>
              </a:ext>
            </a:extLst>
          </p:cNvPr>
          <p:cNvSpPr/>
          <p:nvPr/>
        </p:nvSpPr>
        <p:spPr>
          <a:xfrm>
            <a:off x="7442200" y="1625600"/>
            <a:ext cx="11684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rtlCol="0" anchor="ctr"/>
          <a:lstStyle/>
          <a:p>
            <a:pPr algn="ctr"/>
            <a:r>
              <a:rPr lang="en-IN" sz="750" b="1">
                <a:solidFill>
                  <a:srgbClr val="3B82F6"/>
                </a:solidFill>
                <a:latin typeface="Segoe UI" panose="020B0502040204020203" pitchFamily="34" charset="0"/>
              </a:rPr>
              <a:t>CAD DISPATCH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F4F52A-8B07-DBC3-C231-E843BD26D4CD}"/>
              </a:ext>
            </a:extLst>
          </p:cNvPr>
          <p:cNvSpPr txBox="1"/>
          <p:nvPr/>
        </p:nvSpPr>
        <p:spPr>
          <a:xfrm>
            <a:off x="6350000" y="1981200"/>
            <a:ext cx="2260600" cy="30008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350" b="1">
                <a:solidFill>
                  <a:srgbClr val="FFFFFF"/>
                </a:solidFill>
                <a:latin typeface="Segoe UI" panose="020B0502040204020203" pitchFamily="34" charset="0"/>
              </a:rPr>
              <a:t>Review &amp; Dispatch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A8D2A9-71DA-71B0-3790-FB003882F624}"/>
              </a:ext>
            </a:extLst>
          </p:cNvPr>
          <p:cNvSpPr txBox="1"/>
          <p:nvPr/>
        </p:nvSpPr>
        <p:spPr>
          <a:xfrm>
            <a:off x="6350000" y="2387600"/>
            <a:ext cx="2260600" cy="115416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00">
                <a:solidFill>
                  <a:srgbClr val="E2E8F0"/>
                </a:solidFill>
                <a:latin typeface="Segoe UI" panose="020B0502040204020203" pitchFamily="34" charset="0"/>
              </a:rPr>
              <a:t>* Incident alerts Tactical Responder Console with immediate audio-visual cue.
* Dispatcher reviews caller severity, medical snapshot, and map coordinates.
* Dispatcher acknowledges ticket and assigns response team / paramedic unit.</a:t>
            </a:r>
            <a:endParaRPr lang="en-IN" sz="9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95882B-36E9-1CBE-3C05-964A6F2FE639}"/>
              </a:ext>
            </a:extLst>
          </p:cNvPr>
          <p:cNvSpPr/>
          <p:nvPr/>
        </p:nvSpPr>
        <p:spPr>
          <a:xfrm>
            <a:off x="8978900" y="1460500"/>
            <a:ext cx="2565400" cy="38100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5C25AC-89C9-C848-EB41-988E7849E8F9}"/>
              </a:ext>
            </a:extLst>
          </p:cNvPr>
          <p:cNvSpPr/>
          <p:nvPr/>
        </p:nvSpPr>
        <p:spPr>
          <a:xfrm>
            <a:off x="9131300" y="1625600"/>
            <a:ext cx="1016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STEP 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A7D81-ECC3-5072-6654-F64F36CC3B11}"/>
              </a:ext>
            </a:extLst>
          </p:cNvPr>
          <p:cNvSpPr/>
          <p:nvPr/>
        </p:nvSpPr>
        <p:spPr>
          <a:xfrm>
            <a:off x="10223500" y="1625600"/>
            <a:ext cx="1168400" cy="254000"/>
          </a:xfrm>
          <a:prstGeom prst="rect">
            <a:avLst/>
          </a:prstGeom>
          <a:solidFill>
            <a:srgbClr val="10321E"/>
          </a:solidFill>
          <a:ln w="9525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rtlCol="0" anchor="ctr"/>
          <a:lstStyle/>
          <a:p>
            <a:pPr algn="ctr"/>
            <a:r>
              <a:rPr lang="en-IN" sz="750" b="1">
                <a:solidFill>
                  <a:srgbClr val="22C55E"/>
                </a:solidFill>
                <a:latin typeface="Segoe UI" panose="020B0502040204020203" pitchFamily="34" charset="0"/>
              </a:rPr>
              <a:t>AUDIT LOGGED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31CAE-788D-5D41-422A-B1488F638946}"/>
              </a:ext>
            </a:extLst>
          </p:cNvPr>
          <p:cNvSpPr txBox="1"/>
          <p:nvPr/>
        </p:nvSpPr>
        <p:spPr>
          <a:xfrm>
            <a:off x="9131300" y="1981200"/>
            <a:ext cx="2260600" cy="30008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350" b="1">
                <a:solidFill>
                  <a:srgbClr val="FFFFFF"/>
                </a:solidFill>
                <a:latin typeface="Segoe UI" panose="020B0502040204020203" pitchFamily="34" charset="0"/>
              </a:rPr>
              <a:t>Track &amp; Resolve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016639-DA12-7E98-973B-390BB1926ECF}"/>
              </a:ext>
            </a:extLst>
          </p:cNvPr>
          <p:cNvSpPr txBox="1"/>
          <p:nvPr/>
        </p:nvSpPr>
        <p:spPr>
          <a:xfrm>
            <a:off x="9131300" y="2387600"/>
            <a:ext cx="2260600" cy="161582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00">
                <a:solidFill>
                  <a:srgbClr val="E2E8F0"/>
                </a:solidFill>
                <a:latin typeface="Segoe UI" panose="020B0502040204020203" pitchFamily="34" charset="0"/>
              </a:rPr>
              <a:t>* State machine updates: SUBMITTED -&gt; ACKNOWLEDGED -&gt; ASSIGNED -&gt; RESOLVED.
* Citizen monitors live progress transparently via Reference ID (PB-2026-9812).
* Immutable audit log records all timestamps and responder actions to resolution.</a:t>
            </a:r>
            <a:endParaRPr lang="en-IN" sz="9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C1638B-5CAD-2E64-E8B1-A0EA2CF6A834}"/>
              </a:ext>
            </a:extLst>
          </p:cNvPr>
          <p:cNvSpPr/>
          <p:nvPr/>
        </p:nvSpPr>
        <p:spPr>
          <a:xfrm>
            <a:off x="635000" y="5461000"/>
            <a:ext cx="10922000" cy="838200"/>
          </a:xfrm>
          <a:prstGeom prst="rect">
            <a:avLst/>
          </a:prstGeom>
          <a:solidFill>
            <a:srgbClr val="13233F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B12318-2073-86F5-B04C-6AC3CF305875}"/>
              </a:ext>
            </a:extLst>
          </p:cNvPr>
          <p:cNvSpPr txBox="1"/>
          <p:nvPr/>
        </p:nvSpPr>
        <p:spPr>
          <a:xfrm>
            <a:off x="825500" y="5537200"/>
            <a:ext cx="10541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INCIDENT LIFECYCLE STATE MACHINE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58CFF4-43CC-60E0-2996-E6A53C786AB6}"/>
              </a:ext>
            </a:extLst>
          </p:cNvPr>
          <p:cNvSpPr txBox="1"/>
          <p:nvPr/>
        </p:nvSpPr>
        <p:spPr>
          <a:xfrm>
            <a:off x="825500" y="5816600"/>
            <a:ext cx="10541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[ SUBMITTED ]   ---&gt;   [ ACKNOWLEDGED by Dispatcher ]   ---&gt;   [ ASSIGNED to Response Unit ]   ---&gt;   [ RESOLVED with Audit Log ]</a:t>
            </a:r>
            <a:endParaRPr lang="en-IN" sz="10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030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52D31-BDF8-66F6-A729-4099184C506B}"/>
              </a:ext>
            </a:extLst>
          </p:cNvPr>
          <p:cNvSpPr/>
          <p:nvPr/>
        </p:nvSpPr>
        <p:spPr>
          <a:xfrm>
            <a:off x="635000" y="304800"/>
            <a:ext cx="21209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PLATFORM CAPABILITIES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A01E8-A337-8A4D-889B-07E4B7F7C025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Key Features: Minimal, Mission-Critical Grid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A3600-3BA4-DC60-4D3F-D09D0CA91C10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Six core capabilities designed for life-saving speed, accuracy, and operational clarity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716F-FB96-0E3C-27FB-0CBEFC5D97EE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5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5BD87-B546-FDF3-3A5F-C0C25EE3E3E7}"/>
              </a:ext>
            </a:extLst>
          </p:cNvPr>
          <p:cNvSpPr/>
          <p:nvPr/>
        </p:nvSpPr>
        <p:spPr>
          <a:xfrm>
            <a:off x="635000" y="1460500"/>
            <a:ext cx="3429000" cy="218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60B0-E350-379C-759C-74880E83C010}"/>
              </a:ext>
            </a:extLst>
          </p:cNvPr>
          <p:cNvSpPr/>
          <p:nvPr/>
        </p:nvSpPr>
        <p:spPr>
          <a:xfrm>
            <a:off x="825500" y="16129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EF4444"/>
                </a:solidFill>
                <a:latin typeface="Segoe UI" panose="020B0502040204020203" pitchFamily="34" charset="0"/>
              </a:rPr>
              <a:t>EMERGENCY SOS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DDC6E-5B27-16FE-2CFC-A745D2D40B55}"/>
              </a:ext>
            </a:extLst>
          </p:cNvPr>
          <p:cNvSpPr txBox="1"/>
          <p:nvPr/>
        </p:nvSpPr>
        <p:spPr>
          <a:xfrm>
            <a:off x="825500" y="1892300"/>
            <a:ext cx="3048000" cy="276999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Emergency SOS &amp; 112 Fallback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F2479-74E9-DA67-2224-003F14295F4F}"/>
              </a:ext>
            </a:extLst>
          </p:cNvPr>
          <p:cNvSpPr txBox="1"/>
          <p:nvPr/>
        </p:nvSpPr>
        <p:spPr>
          <a:xfrm>
            <a:off x="825500" y="2222500"/>
            <a:ext cx="3048000" cy="58785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* Instant 1-tap activation modal with 3s cancel window.
* Direct dial-112 hotline never blocked by logins or offline errors.
* Immediate visual alert triggers across CAD network.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09D2C-075C-1040-8293-8E8728A1E135}"/>
              </a:ext>
            </a:extLst>
          </p:cNvPr>
          <p:cNvSpPr/>
          <p:nvPr/>
        </p:nvSpPr>
        <p:spPr>
          <a:xfrm>
            <a:off x="4381500" y="1460500"/>
            <a:ext cx="3429000" cy="218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4D8EB-7972-BE8D-536C-5D675A6ED57E}"/>
              </a:ext>
            </a:extLst>
          </p:cNvPr>
          <p:cNvSpPr/>
          <p:nvPr/>
        </p:nvSpPr>
        <p:spPr>
          <a:xfrm>
            <a:off x="4572000" y="16129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00E5FF"/>
                </a:solidFill>
                <a:latin typeface="Segoe UI" panose="020B0502040204020203" pitchFamily="34" charset="0"/>
              </a:rPr>
              <a:t>TELEMETRY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581FC9-643F-6691-F72E-569139860ED0}"/>
              </a:ext>
            </a:extLst>
          </p:cNvPr>
          <p:cNvSpPr txBox="1"/>
          <p:nvPr/>
        </p:nvSpPr>
        <p:spPr>
          <a:xfrm>
            <a:off x="4572000" y="1892300"/>
            <a:ext cx="3048000" cy="276999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GPS &amp; Manual Coordinates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46CD1-390A-2840-EBBC-FE1B1CE7F737}"/>
              </a:ext>
            </a:extLst>
          </p:cNvPr>
          <p:cNvSpPr txBox="1"/>
          <p:nvPr/>
        </p:nvSpPr>
        <p:spPr>
          <a:xfrm>
            <a:off x="4572000" y="2222500"/>
            <a:ext cx="3048000" cy="85869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880">
                <a:solidFill>
                  <a:srgbClr val="E2E8F0"/>
                </a:solidFill>
                <a:latin typeface="Segoe UI" panose="020B0502040204020203" pitchFamily="34" charset="0"/>
              </a:rPr>
              <a:t>* HTML5 Geolocation sensor captures latitude, longitude, and accuracy.
* Manual coordinate override and indoor floor/room landmark fallback.
* Purpose-built for multi-story campus buildings where GPS drifts.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C197F0-D75F-9CB9-DDB5-6CD6C13C7886}"/>
              </a:ext>
            </a:extLst>
          </p:cNvPr>
          <p:cNvSpPr/>
          <p:nvPr/>
        </p:nvSpPr>
        <p:spPr>
          <a:xfrm>
            <a:off x="8128000" y="1460500"/>
            <a:ext cx="3429000" cy="218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60BC6-12B4-A749-7CA2-B5099FBBD910}"/>
              </a:ext>
            </a:extLst>
          </p:cNvPr>
          <p:cNvSpPr/>
          <p:nvPr/>
        </p:nvSpPr>
        <p:spPr>
          <a:xfrm>
            <a:off x="8318500" y="16129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38BDF8"/>
                </a:solidFill>
                <a:latin typeface="Segoe UI" panose="020B0502040204020203" pitchFamily="34" charset="0"/>
              </a:rPr>
              <a:t>TRANSPARENCY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BB3221-0445-FB75-E4F3-8851B6E582D8}"/>
              </a:ext>
            </a:extLst>
          </p:cNvPr>
          <p:cNvSpPr txBox="1"/>
          <p:nvPr/>
        </p:nvSpPr>
        <p:spPr>
          <a:xfrm>
            <a:off x="8318500" y="1892300"/>
            <a:ext cx="3048000" cy="276999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Incident Tracking (Ref ID)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4D984F-5BF7-1A7F-8576-8745A02EAE82}"/>
              </a:ext>
            </a:extLst>
          </p:cNvPr>
          <p:cNvSpPr txBox="1"/>
          <p:nvPr/>
        </p:nvSpPr>
        <p:spPr>
          <a:xfrm>
            <a:off x="8318500" y="2222500"/>
            <a:ext cx="3048000" cy="72327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* Generates unique reference token (e.g. PB-2026-9812).
* Zero account creation required for citizens to track rescue status.
* Real-time visual badges show triage updates and responder assignments.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A2CCF-A96B-4FFC-AF8E-E41EE3A1DE4E}"/>
              </a:ext>
            </a:extLst>
          </p:cNvPr>
          <p:cNvSpPr/>
          <p:nvPr/>
        </p:nvSpPr>
        <p:spPr>
          <a:xfrm>
            <a:off x="635000" y="3873500"/>
            <a:ext cx="3429000" cy="218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412CD3-6246-EF9A-E649-B6525206FCA5}"/>
              </a:ext>
            </a:extLst>
          </p:cNvPr>
          <p:cNvSpPr/>
          <p:nvPr/>
        </p:nvSpPr>
        <p:spPr>
          <a:xfrm>
            <a:off x="825500" y="40259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3B82F6"/>
                </a:solidFill>
                <a:latin typeface="Segoe UI" panose="020B0502040204020203" pitchFamily="34" charset="0"/>
              </a:rPr>
              <a:t>CAD CONSOLE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21B8A0-EFF4-9FA7-9345-699E7BC01D25}"/>
              </a:ext>
            </a:extLst>
          </p:cNvPr>
          <p:cNvSpPr txBox="1"/>
          <p:nvPr/>
        </p:nvSpPr>
        <p:spPr>
          <a:xfrm>
            <a:off x="825500" y="4305300"/>
            <a:ext cx="3048000" cy="276999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Tactical Responder Dashboard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53EB94-7532-3273-00FD-DF7538DB113D}"/>
              </a:ext>
            </a:extLst>
          </p:cNvPr>
          <p:cNvSpPr txBox="1"/>
          <p:nvPr/>
        </p:nvSpPr>
        <p:spPr>
          <a:xfrm>
            <a:off x="825500" y="4635500"/>
            <a:ext cx="3048000" cy="85869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* Dark Navy CAD dashboard optimized for emergency duty dispatchers.
* Interactive Leaflet OpenStreetMap with colored priority marker pins.
* Instant incident search, status filtering, and live metric cards.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21FD0-9D6B-0209-4C18-B449236ECCE7}"/>
              </a:ext>
            </a:extLst>
          </p:cNvPr>
          <p:cNvSpPr/>
          <p:nvPr/>
        </p:nvSpPr>
        <p:spPr>
          <a:xfrm>
            <a:off x="4381500" y="3873500"/>
            <a:ext cx="3429000" cy="218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485A29-6014-7405-BCF6-8130EBFB4279}"/>
              </a:ext>
            </a:extLst>
          </p:cNvPr>
          <p:cNvSpPr/>
          <p:nvPr/>
        </p:nvSpPr>
        <p:spPr>
          <a:xfrm>
            <a:off x="4572000" y="40259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22C55E"/>
                </a:solidFill>
                <a:latin typeface="Segoe UI" panose="020B0502040204020203" pitchFamily="34" charset="0"/>
              </a:rPr>
              <a:t>WORKFLOW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29D53F-9497-EE25-67F1-AB811D0C5D2C}"/>
              </a:ext>
            </a:extLst>
          </p:cNvPr>
          <p:cNvSpPr txBox="1"/>
          <p:nvPr/>
        </p:nvSpPr>
        <p:spPr>
          <a:xfrm>
            <a:off x="4572000" y="4305300"/>
            <a:ext cx="3048000" cy="276999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Acknowledge, Assign &amp; Resolve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C7E88C-0CD4-1992-C450-187EF2B87F57}"/>
              </a:ext>
            </a:extLst>
          </p:cNvPr>
          <p:cNvSpPr txBox="1"/>
          <p:nvPr/>
        </p:nvSpPr>
        <p:spPr>
          <a:xfrm>
            <a:off x="4572000" y="4635500"/>
            <a:ext cx="3048000" cy="85869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* Strict role-based status transitions eliminate coordination confusion.
* One-click action to acknowledge incident and assign field responders.
* Immutable, timestamped audit log preserved for accountability.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273711-6C63-05C3-345D-C3EE377A1CE7}"/>
              </a:ext>
            </a:extLst>
          </p:cNvPr>
          <p:cNvSpPr/>
          <p:nvPr/>
        </p:nvSpPr>
        <p:spPr>
          <a:xfrm>
            <a:off x="8128000" y="3873500"/>
            <a:ext cx="3429000" cy="218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D1F0D4-BF90-7F99-3BE6-01137E81858A}"/>
              </a:ext>
            </a:extLst>
          </p:cNvPr>
          <p:cNvSpPr/>
          <p:nvPr/>
        </p:nvSpPr>
        <p:spPr>
          <a:xfrm>
            <a:off x="8318500" y="4025900"/>
            <a:ext cx="1778000" cy="228600"/>
          </a:xfrm>
          <a:prstGeom prst="rect">
            <a:avLst/>
          </a:prstGeom>
          <a:solidFill>
            <a:srgbClr val="13233F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F59E0B"/>
                </a:solidFill>
                <a:latin typeface="Segoe UI" panose="020B0502040204020203" pitchFamily="34" charset="0"/>
              </a:rPr>
              <a:t>HEALTH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ACD2D4-9E24-77A5-213B-6BD5C945B884}"/>
              </a:ext>
            </a:extLst>
          </p:cNvPr>
          <p:cNvSpPr txBox="1"/>
          <p:nvPr/>
        </p:nvSpPr>
        <p:spPr>
          <a:xfrm>
            <a:off x="8318500" y="4305300"/>
            <a:ext cx="3048000" cy="276999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Consent-Based Medical Profile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6C1C62-E314-8B69-4126-54047ED162AD}"/>
              </a:ext>
            </a:extLst>
          </p:cNvPr>
          <p:cNvSpPr txBox="1"/>
          <p:nvPr/>
        </p:nvSpPr>
        <p:spPr>
          <a:xfrm>
            <a:off x="8318500" y="4635500"/>
            <a:ext cx="3048000" cy="72327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* User-controlled blood group, severe allergies, and chronic medications.
* Encrypted and shared strictly upon active SOS dispatch.
* Empowers first responders to administer safe, informed triage on arrival.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19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601493-1ECA-AE0F-FDA7-1097A3A4798E}"/>
              </a:ext>
            </a:extLst>
          </p:cNvPr>
          <p:cNvSpPr/>
          <p:nvPr/>
        </p:nvSpPr>
        <p:spPr>
          <a:xfrm>
            <a:off x="635000" y="304800"/>
            <a:ext cx="22098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TECHNICAL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A3341-D740-6A5E-D606-F54547E5F3DB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Technology Stack &amp; 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9DFD4-1134-F2DC-A521-CCD4D7C4FEF0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150">
                <a:solidFill>
                  <a:srgbClr val="94A3B8"/>
                </a:solidFill>
                <a:latin typeface="Segoe UI" panose="020B0502040204020203" pitchFamily="34" charset="0"/>
              </a:rPr>
              <a:t>Inspected repository source code: genuine technologies, zero invented integrations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0FAA1-2C43-193D-46AC-C7B6DEEF2EEB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6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A6F877-C139-7664-617B-4D6F0875CA00}"/>
              </a:ext>
            </a:extLst>
          </p:cNvPr>
          <p:cNvSpPr/>
          <p:nvPr/>
        </p:nvSpPr>
        <p:spPr>
          <a:xfrm>
            <a:off x="635000" y="1460500"/>
            <a:ext cx="4826000" cy="10668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BE0A8-A088-4E92-9113-5F044C73E203}"/>
              </a:ext>
            </a:extLst>
          </p:cNvPr>
          <p:cNvSpPr/>
          <p:nvPr/>
        </p:nvSpPr>
        <p:spPr>
          <a:xfrm>
            <a:off x="825500" y="1562100"/>
            <a:ext cx="13335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00E5FF"/>
                </a:solidFill>
                <a:latin typeface="Segoe UI" panose="020B0502040204020203" pitchFamily="34" charset="0"/>
              </a:rPr>
              <a:t>REACT 19 + 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FF937-DD32-8865-B639-765B015226AE}"/>
              </a:ext>
            </a:extLst>
          </p:cNvPr>
          <p:cNvSpPr txBox="1"/>
          <p:nvPr/>
        </p:nvSpPr>
        <p:spPr>
          <a:xfrm>
            <a:off x="825500" y="1790700"/>
            <a:ext cx="4445000" cy="269304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  <a:latin typeface="Segoe UI" panose="020B0502040204020203" pitchFamily="34" charset="0"/>
              </a:rPr>
              <a:t>Frontend Framework &amp; Routing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FD655-3057-59A5-044B-A007305036ED}"/>
              </a:ext>
            </a:extLst>
          </p:cNvPr>
          <p:cNvSpPr txBox="1"/>
          <p:nvPr/>
        </p:nvSpPr>
        <p:spPr>
          <a:xfrm>
            <a:off x="825500" y="2044700"/>
            <a:ext cx="444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00">
                <a:solidFill>
                  <a:srgbClr val="E2E8F0"/>
                </a:solidFill>
                <a:latin typeface="Segoe UI" panose="020B0502040204020203" pitchFamily="34" charset="0"/>
              </a:rPr>
              <a:t>React 19 | TypeScript | Vite | React Router v7 (HashRouter for zero-config GitHub Pages hosting)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E9B70E-2BB7-8BAB-02E4-49782E6DA07A}"/>
              </a:ext>
            </a:extLst>
          </p:cNvPr>
          <p:cNvSpPr/>
          <p:nvPr/>
        </p:nvSpPr>
        <p:spPr>
          <a:xfrm>
            <a:off x="635000" y="2679700"/>
            <a:ext cx="4826000" cy="10668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E1576D-0478-5B62-AC71-042F1892092C}"/>
              </a:ext>
            </a:extLst>
          </p:cNvPr>
          <p:cNvSpPr/>
          <p:nvPr/>
        </p:nvSpPr>
        <p:spPr>
          <a:xfrm>
            <a:off x="825500" y="2781300"/>
            <a:ext cx="13335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38BDF8"/>
                </a:solidFill>
                <a:latin typeface="Segoe UI" panose="020B0502040204020203" pitchFamily="34" charset="0"/>
              </a:rPr>
              <a:t>LEAFLET + OSM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707D2-C23D-6D6B-B5EC-9C2AE488AE59}"/>
              </a:ext>
            </a:extLst>
          </p:cNvPr>
          <p:cNvSpPr txBox="1"/>
          <p:nvPr/>
        </p:nvSpPr>
        <p:spPr>
          <a:xfrm>
            <a:off x="825500" y="3009900"/>
            <a:ext cx="4445000" cy="269304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  <a:latin typeface="Segoe UI" panose="020B0502040204020203" pitchFamily="34" charset="0"/>
              </a:rPr>
              <a:t>Interactive Maps &amp; Geolocation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A79E1-CB76-025C-1181-BC03D1119F08}"/>
              </a:ext>
            </a:extLst>
          </p:cNvPr>
          <p:cNvSpPr txBox="1"/>
          <p:nvPr/>
        </p:nvSpPr>
        <p:spPr>
          <a:xfrm>
            <a:off x="825500" y="3263900"/>
            <a:ext cx="444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00">
                <a:solidFill>
                  <a:srgbClr val="E2E8F0"/>
                </a:solidFill>
                <a:latin typeface="Segoe UI" panose="020B0502040204020203" pitchFamily="34" charset="0"/>
              </a:rPr>
              <a:t>Leaflet 1.9 &amp; OpenStreetMap (react-leaflet) | Custom SVG status pins | HTML5 Geolocation 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A5838F-AF2E-B6A2-A969-77B6FB8AA709}"/>
              </a:ext>
            </a:extLst>
          </p:cNvPr>
          <p:cNvSpPr/>
          <p:nvPr/>
        </p:nvSpPr>
        <p:spPr>
          <a:xfrm>
            <a:off x="635000" y="3898900"/>
            <a:ext cx="4826000" cy="10668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B9079-F513-46B6-2290-4463D21A473D}"/>
              </a:ext>
            </a:extLst>
          </p:cNvPr>
          <p:cNvSpPr/>
          <p:nvPr/>
        </p:nvSpPr>
        <p:spPr>
          <a:xfrm>
            <a:off x="825500" y="4000500"/>
            <a:ext cx="13335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3B82F6"/>
                </a:solidFill>
                <a:latin typeface="Segoe UI" panose="020B0502040204020203" pitchFamily="34" charset="0"/>
              </a:rPr>
              <a:t>POSTGRES + RLS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9D7EE2-BA35-59C4-919C-6765D8379DB8}"/>
              </a:ext>
            </a:extLst>
          </p:cNvPr>
          <p:cNvSpPr txBox="1"/>
          <p:nvPr/>
        </p:nvSpPr>
        <p:spPr>
          <a:xfrm>
            <a:off x="825500" y="4229100"/>
            <a:ext cx="4445000" cy="269304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  <a:latin typeface="Segoe UI" panose="020B0502040204020203" pitchFamily="34" charset="0"/>
              </a:rPr>
              <a:t>Backend, Database &amp; Storage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A2A875-2FD9-3E31-E0AB-F10C23D37BF2}"/>
              </a:ext>
            </a:extLst>
          </p:cNvPr>
          <p:cNvSpPr txBox="1"/>
          <p:nvPr/>
        </p:nvSpPr>
        <p:spPr>
          <a:xfrm>
            <a:off x="825500" y="4483100"/>
            <a:ext cx="444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00">
                <a:solidFill>
                  <a:srgbClr val="E2E8F0"/>
                </a:solidFill>
                <a:latin typeface="Segoe UI" panose="020B0502040204020203" pitchFamily="34" charset="0"/>
              </a:rPr>
              <a:t>Supabase Client | PostgreSQL 15+ | Row-Level Security (RLS) policies | Realtime Replication | Node.js Server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91910D-C2E3-0371-EBB5-E45FCCA04A5E}"/>
              </a:ext>
            </a:extLst>
          </p:cNvPr>
          <p:cNvSpPr/>
          <p:nvPr/>
        </p:nvSpPr>
        <p:spPr>
          <a:xfrm>
            <a:off x="635000" y="5118100"/>
            <a:ext cx="4826000" cy="10668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A2E3AB-B2E3-36EA-CE01-9E679EE52C18}"/>
              </a:ext>
            </a:extLst>
          </p:cNvPr>
          <p:cNvSpPr/>
          <p:nvPr/>
        </p:nvSpPr>
        <p:spPr>
          <a:xfrm>
            <a:off x="825500" y="5219700"/>
            <a:ext cx="13335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22C55E"/>
                </a:solidFill>
                <a:latin typeface="Segoe UI" panose="020B0502040204020203" pitchFamily="34" charset="0"/>
              </a:rPr>
              <a:t>CI/CD &amp; OFFLINE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FBC609-92D5-CF30-AB9B-E767C301B41E}"/>
              </a:ext>
            </a:extLst>
          </p:cNvPr>
          <p:cNvSpPr txBox="1"/>
          <p:nvPr/>
        </p:nvSpPr>
        <p:spPr>
          <a:xfrm>
            <a:off x="825500" y="5448300"/>
            <a:ext cx="4445000" cy="269304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  <a:latin typeface="Segoe UI" panose="020B0502040204020203" pitchFamily="34" charset="0"/>
              </a:rPr>
              <a:t>Resilience &amp; Deployment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F5CD49-815C-DA49-B3C9-863FE0CA04B7}"/>
              </a:ext>
            </a:extLst>
          </p:cNvPr>
          <p:cNvSpPr txBox="1"/>
          <p:nvPr/>
        </p:nvSpPr>
        <p:spPr>
          <a:xfrm>
            <a:off x="825500" y="5702300"/>
            <a:ext cx="444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00">
                <a:solidFill>
                  <a:srgbClr val="E2E8F0"/>
                </a:solidFill>
                <a:latin typeface="Segoe UI" panose="020B0502040204020203" pitchFamily="34" charset="0"/>
              </a:rPr>
              <a:t>Service abstraction layer | Truthful offline detection | Local draft store | GitHub Actions CI/CD | Render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F46CEA-433F-3510-A2D4-BC003DBA7D11}"/>
              </a:ext>
            </a:extLst>
          </p:cNvPr>
          <p:cNvSpPr/>
          <p:nvPr/>
        </p:nvSpPr>
        <p:spPr>
          <a:xfrm>
            <a:off x="5715000" y="1460500"/>
            <a:ext cx="5842000" cy="47244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9BC11B-F370-30EA-4FCE-3401C69CA47E}"/>
              </a:ext>
            </a:extLst>
          </p:cNvPr>
          <p:cNvSpPr txBox="1"/>
          <p:nvPr/>
        </p:nvSpPr>
        <p:spPr>
          <a:xfrm>
            <a:off x="5905500" y="1587500"/>
            <a:ext cx="546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00E5FF"/>
                </a:solidFill>
                <a:latin typeface="Segoe UI" panose="020B0502040204020203" pitchFamily="34" charset="0"/>
              </a:rPr>
              <a:t>SYSTEM DATA FLOW ARCHITECTURE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BEE15A-6EB1-E554-C288-F88CA4B4F4AB}"/>
              </a:ext>
            </a:extLst>
          </p:cNvPr>
          <p:cNvSpPr/>
          <p:nvPr/>
        </p:nvSpPr>
        <p:spPr>
          <a:xfrm>
            <a:off x="5905500" y="1930400"/>
            <a:ext cx="5461000" cy="825500"/>
          </a:xfrm>
          <a:prstGeom prst="rect">
            <a:avLst/>
          </a:prstGeom>
          <a:solidFill>
            <a:srgbClr val="13233F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509557-3B5C-6F2C-31EA-75137D342CC1}"/>
              </a:ext>
            </a:extLst>
          </p:cNvPr>
          <p:cNvSpPr txBox="1"/>
          <p:nvPr/>
        </p:nvSpPr>
        <p:spPr>
          <a:xfrm>
            <a:off x="6032500" y="1981200"/>
            <a:ext cx="5207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CITIZEN MOBILE &amp; WEB CLIENT (LIGHT THEME)
* 1-Tap SOS Activation | 3s Cancel Buffer | India 112 Permanent Hotline
* Browser Geolocation Sensor Telemetry | Indoor Room/Floor Landmark Fallback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619913-2451-6765-4904-258CCAF173DC}"/>
              </a:ext>
            </a:extLst>
          </p:cNvPr>
          <p:cNvSpPr/>
          <p:nvPr/>
        </p:nvSpPr>
        <p:spPr>
          <a:xfrm>
            <a:off x="5905500" y="2921000"/>
            <a:ext cx="5461000" cy="863600"/>
          </a:xfrm>
          <a:prstGeom prst="rect">
            <a:avLst/>
          </a:prstGeom>
          <a:solidFill>
            <a:srgbClr val="0E1B33"/>
          </a:solidFill>
          <a:ln w="1270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D987D9-09E5-9D06-B8CA-98B856E5448B}"/>
              </a:ext>
            </a:extLst>
          </p:cNvPr>
          <p:cNvSpPr txBox="1"/>
          <p:nvPr/>
        </p:nvSpPr>
        <p:spPr>
          <a:xfrm>
            <a:off x="6032500" y="2971800"/>
            <a:ext cx="5207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FFFFFF"/>
                </a:solidFill>
                <a:latin typeface="Segoe UI" panose="020B0502040204020203" pitchFamily="34" charset="0"/>
              </a:rPr>
              <a:t>DATA SERVICE ABSTRACTION LAYER (RESILIENCE)
* Unified Incident Service: Transparently switches between Supabase &amp; Demo Store
* Truthful Offline Outage Detector: Alerts user to dial 112 when disconnected
* Local Draft Preservation &amp; State Machine 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CC81F6-09C0-F9A4-6330-9FE4801AB6AF}"/>
              </a:ext>
            </a:extLst>
          </p:cNvPr>
          <p:cNvSpPr/>
          <p:nvPr/>
        </p:nvSpPr>
        <p:spPr>
          <a:xfrm>
            <a:off x="5905500" y="3937000"/>
            <a:ext cx="5461000" cy="825500"/>
          </a:xfrm>
          <a:prstGeom prst="rect">
            <a:avLst/>
          </a:prstGeom>
          <a:solidFill>
            <a:srgbClr val="13233F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91A6F-55D3-ECEB-169D-DD6B65C30AF5}"/>
              </a:ext>
            </a:extLst>
          </p:cNvPr>
          <p:cNvSpPr txBox="1"/>
          <p:nvPr/>
        </p:nvSpPr>
        <p:spPr>
          <a:xfrm>
            <a:off x="6032500" y="3987800"/>
            <a:ext cx="5207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FFFFFF"/>
                </a:solidFill>
                <a:latin typeface="Segoe UI" panose="020B0502040204020203" pitchFamily="34" charset="0"/>
              </a:rPr>
              <a:t>SUPABASE CLOUD / LOCAL DEMO STORE (POSTGRESQL 15+)
* Incidents Table: Priority, Coordinates, Landmark, Consented Health Snapshot
* Immutable Audit Events Log | Row-Level Security (RLS) Profile Protection
* Postgres Realtime Replication Channels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1CB30A-76E4-5034-C5C3-AEA67F59FEC6}"/>
              </a:ext>
            </a:extLst>
          </p:cNvPr>
          <p:cNvSpPr/>
          <p:nvPr/>
        </p:nvSpPr>
        <p:spPr>
          <a:xfrm>
            <a:off x="5905500" y="4927600"/>
            <a:ext cx="5461000" cy="863600"/>
          </a:xfrm>
          <a:prstGeom prst="rect">
            <a:avLst/>
          </a:prstGeom>
          <a:solidFill>
            <a:srgbClr val="0E1B33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F9443E-EA81-AB7A-C2BE-2B95ED655AB7}"/>
              </a:ext>
            </a:extLst>
          </p:cNvPr>
          <p:cNvSpPr txBox="1"/>
          <p:nvPr/>
        </p:nvSpPr>
        <p:spPr>
          <a:xfrm>
            <a:off x="6032500" y="4978400"/>
            <a:ext cx="5207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RESPONDER CAD DASHBOARD (DARK NAVY THEME)
* Live Triage Queue: Critical, High, Medium, Low Filtering
* Interactive Leaflet Map with Real-time GPS Pins &amp; Indoor Landmark Details
* Strict CAD State Transitions: Acknowledge -&gt; Assign Unit -&gt; Resolve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273A68-505D-D350-50D3-A1DED700BFF1}"/>
              </a:ext>
            </a:extLst>
          </p:cNvPr>
          <p:cNvSpPr txBox="1"/>
          <p:nvPr/>
        </p:nvSpPr>
        <p:spPr>
          <a:xfrm>
            <a:off x="5905500" y="5867400"/>
            <a:ext cx="5461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00E5FF"/>
                </a:solidFill>
                <a:latin typeface="Segoe UI" panose="020B0502040204020203" pitchFamily="34" charset="0"/>
              </a:rPr>
              <a:t>Verified 100% against repository source code. No unconfigured integrations.</a:t>
            </a:r>
            <a:endParaRPr lang="en-IN" sz="850">
              <a:solidFill>
                <a:srgbClr val="00E5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64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262E30-4248-AC0D-F71D-7035C116C763}"/>
              </a:ext>
            </a:extLst>
          </p:cNvPr>
          <p:cNvSpPr/>
          <p:nvPr/>
        </p:nvSpPr>
        <p:spPr>
          <a:xfrm>
            <a:off x="635000" y="304800"/>
            <a:ext cx="2032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PROTOTYPE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5644C-165F-1C41-8870-6D38AF891E90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Live Demo &amp; Current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E81E6-C0BE-1BBB-1A61-E6273763556F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Genuine application screenshots captured directly from active PulseBridge deployment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FF420-A0AE-7AD5-D502-8BE270750336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7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1C0D83-98B6-C842-10B6-90A2C2859F51}"/>
              </a:ext>
            </a:extLst>
          </p:cNvPr>
          <p:cNvSpPr/>
          <p:nvPr/>
        </p:nvSpPr>
        <p:spPr>
          <a:xfrm>
            <a:off x="635000" y="1422400"/>
            <a:ext cx="2565400" cy="2857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EEA9A9-C6CE-2795-20C3-2F7012FA45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524000"/>
            <a:ext cx="2362200" cy="1473200"/>
          </a:xfrm>
          <a:prstGeom prst="rect">
            <a:avLst/>
          </a:prstGeom>
          <a:ln w="9525">
            <a:solidFill>
              <a:srgbClr val="1E3A5F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4F4D61-4776-DEEE-25C5-2223940346DA}"/>
              </a:ext>
            </a:extLst>
          </p:cNvPr>
          <p:cNvSpPr/>
          <p:nvPr/>
        </p:nvSpPr>
        <p:spPr>
          <a:xfrm>
            <a:off x="736600" y="3098800"/>
            <a:ext cx="13970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EF4444"/>
                </a:solidFill>
                <a:latin typeface="Segoe UI" panose="020B0502040204020203" pitchFamily="34" charset="0"/>
              </a:rPr>
              <a:t>CITIZEN LANDING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E9BBA-C0AD-9A3D-E185-5C9567B41D40}"/>
              </a:ext>
            </a:extLst>
          </p:cNvPr>
          <p:cNvSpPr txBox="1"/>
          <p:nvPr/>
        </p:nvSpPr>
        <p:spPr>
          <a:xfrm>
            <a:off x="736600" y="3352800"/>
            <a:ext cx="23622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950" b="1">
                <a:solidFill>
                  <a:srgbClr val="FFFFFF"/>
                </a:solidFill>
                <a:latin typeface="Segoe UI" panose="020B0502040204020203" pitchFamily="34" charset="0"/>
              </a:rPr>
              <a:t>1. Homepage
1-Tap SOS &amp; 112 Hotline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50609-74E9-32AD-1F6C-89A8C38926EB}"/>
              </a:ext>
            </a:extLst>
          </p:cNvPr>
          <p:cNvSpPr/>
          <p:nvPr/>
        </p:nvSpPr>
        <p:spPr>
          <a:xfrm>
            <a:off x="3416300" y="1422400"/>
            <a:ext cx="2565400" cy="2857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FAC8F1-31E4-0762-50D4-1B1CE4D335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900" y="1524000"/>
            <a:ext cx="2362200" cy="1473200"/>
          </a:xfrm>
          <a:prstGeom prst="rect">
            <a:avLst/>
          </a:prstGeom>
          <a:ln w="9525">
            <a:solidFill>
              <a:srgbClr val="1E3A5F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63DB9F3-86EC-9E32-58B8-1BE39ED60726}"/>
              </a:ext>
            </a:extLst>
          </p:cNvPr>
          <p:cNvSpPr/>
          <p:nvPr/>
        </p:nvSpPr>
        <p:spPr>
          <a:xfrm>
            <a:off x="3517900" y="3098800"/>
            <a:ext cx="13970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00E5FF"/>
                </a:solidFill>
                <a:latin typeface="Segoe UI" panose="020B0502040204020203" pitchFamily="34" charset="0"/>
              </a:rPr>
              <a:t>INCIDENT DISPATCH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16931C-7534-9AC3-D2FE-49206B65375C}"/>
              </a:ext>
            </a:extLst>
          </p:cNvPr>
          <p:cNvSpPr txBox="1"/>
          <p:nvPr/>
        </p:nvSpPr>
        <p:spPr>
          <a:xfrm>
            <a:off x="3517900" y="3352800"/>
            <a:ext cx="23622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2. Emergency SOS Form
GPS Telemetry &amp; Landmark</a:t>
            </a:r>
            <a:endParaRPr lang="en-IN" sz="9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30F10-A11E-BFCB-CC1A-A38C63DB2982}"/>
              </a:ext>
            </a:extLst>
          </p:cNvPr>
          <p:cNvSpPr/>
          <p:nvPr/>
        </p:nvSpPr>
        <p:spPr>
          <a:xfrm>
            <a:off x="6197600" y="1422400"/>
            <a:ext cx="2565400" cy="2857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E26030-F300-DD70-C2EA-0730D293557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1524000"/>
            <a:ext cx="2362200" cy="1473200"/>
          </a:xfrm>
          <a:prstGeom prst="rect">
            <a:avLst/>
          </a:prstGeom>
          <a:ln w="9525">
            <a:solidFill>
              <a:srgbClr val="1E3A5F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FCA29B9-4891-94AB-571B-2573A6018D08}"/>
              </a:ext>
            </a:extLst>
          </p:cNvPr>
          <p:cNvSpPr/>
          <p:nvPr/>
        </p:nvSpPr>
        <p:spPr>
          <a:xfrm>
            <a:off x="6299200" y="3098800"/>
            <a:ext cx="13970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38BDF8"/>
                </a:solidFill>
                <a:latin typeface="Segoe UI" panose="020B0502040204020203" pitchFamily="34" charset="0"/>
              </a:rPr>
              <a:t>LIVE TRACKING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C32563-63CB-4CBF-375B-00ECA8DDE3A0}"/>
              </a:ext>
            </a:extLst>
          </p:cNvPr>
          <p:cNvSpPr txBox="1"/>
          <p:nvPr/>
        </p:nvSpPr>
        <p:spPr>
          <a:xfrm>
            <a:off x="6299200" y="3352800"/>
            <a:ext cx="23622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3. Incident Tracking
Ref ID &amp; Audit Timeline</a:t>
            </a:r>
            <a:endParaRPr lang="en-IN" sz="9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73DDB8-BEFC-2AB4-FA52-8F4D789BC87B}"/>
              </a:ext>
            </a:extLst>
          </p:cNvPr>
          <p:cNvSpPr/>
          <p:nvPr/>
        </p:nvSpPr>
        <p:spPr>
          <a:xfrm>
            <a:off x="8978900" y="1422400"/>
            <a:ext cx="2565400" cy="2857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6113AD3-509B-5415-17D3-C908DAB5F82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0" y="1524000"/>
            <a:ext cx="2362200" cy="1473200"/>
          </a:xfrm>
          <a:prstGeom prst="rect">
            <a:avLst/>
          </a:prstGeom>
          <a:ln w="9525">
            <a:solidFill>
              <a:srgbClr val="1E3A5F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2CC236-DC31-6D20-E9F8-AF67F9CD8D6B}"/>
              </a:ext>
            </a:extLst>
          </p:cNvPr>
          <p:cNvSpPr/>
          <p:nvPr/>
        </p:nvSpPr>
        <p:spPr>
          <a:xfrm>
            <a:off x="9080500" y="3098800"/>
            <a:ext cx="1397000" cy="203200"/>
          </a:xfrm>
          <a:prstGeom prst="rect">
            <a:avLst/>
          </a:prstGeom>
          <a:solidFill>
            <a:srgbClr val="13233F"/>
          </a:solidFill>
          <a:ln w="9525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tlCol="0" anchor="ctr"/>
          <a:lstStyle/>
          <a:p>
            <a:pPr algn="ctr"/>
            <a:r>
              <a:rPr lang="en-IN" sz="750" b="1">
                <a:solidFill>
                  <a:srgbClr val="22C55E"/>
                </a:solidFill>
                <a:latin typeface="Segoe UI" panose="020B0502040204020203" pitchFamily="34" charset="0"/>
              </a:rPr>
              <a:t>CAD DASHBOARD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93FB5F-B754-B2CD-D769-A2FC9DA80367}"/>
              </a:ext>
            </a:extLst>
          </p:cNvPr>
          <p:cNvSpPr txBox="1"/>
          <p:nvPr/>
        </p:nvSpPr>
        <p:spPr>
          <a:xfrm>
            <a:off x="9080500" y="3352800"/>
            <a:ext cx="23622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fr-FR" sz="950" b="1">
                <a:solidFill>
                  <a:srgbClr val="FFFFFF"/>
                </a:solidFill>
                <a:latin typeface="Segoe UI" panose="020B0502040204020203" pitchFamily="34" charset="0"/>
              </a:rPr>
              <a:t>4. Responder Center
Leaflet Map &amp; Triage Queue</a:t>
            </a:r>
            <a:endParaRPr lang="en-IN" sz="9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773646-4DCB-6AF4-D275-669EB1C0DD94}"/>
              </a:ext>
            </a:extLst>
          </p:cNvPr>
          <p:cNvSpPr/>
          <p:nvPr/>
        </p:nvSpPr>
        <p:spPr>
          <a:xfrm>
            <a:off x="635000" y="4419600"/>
            <a:ext cx="10922000" cy="787400"/>
          </a:xfrm>
          <a:prstGeom prst="rect">
            <a:avLst/>
          </a:prstGeom>
          <a:solidFill>
            <a:srgbClr val="13233F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5B2DA-BE1A-D3F3-9349-AA24BE5B16B0}"/>
              </a:ext>
            </a:extLst>
          </p:cNvPr>
          <p:cNvSpPr txBox="1"/>
          <p:nvPr/>
        </p:nvSpPr>
        <p:spPr>
          <a:xfrm>
            <a:off x="825500" y="4483100"/>
            <a:ext cx="10541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 b="1">
                <a:solidFill>
                  <a:srgbClr val="00E5FF"/>
                </a:solidFill>
                <a:latin typeface="Segoe UI" panose="020B0502040204020203" pitchFamily="34" charset="0"/>
              </a:rPr>
              <a:t>IMPLEMENTED DEMO WORKFLOW (VERIFIABLE DURING LIVE DEMO)</a:t>
            </a:r>
            <a:endParaRPr lang="en-IN" sz="850" b="1">
              <a:solidFill>
                <a:srgbClr val="00E5FF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779483-F22F-0E2E-70F0-E351583713B8}"/>
              </a:ext>
            </a:extLst>
          </p:cNvPr>
          <p:cNvSpPr txBox="1"/>
          <p:nvPr/>
        </p:nvSpPr>
        <p:spPr>
          <a:xfrm>
            <a:off x="825500" y="4724400"/>
            <a:ext cx="1054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1. SOS Submission -&gt; 2. Reference ID Generated -&gt; 3. Responder Queue Alert -&gt; 4. Dispatcher Assignment -&gt; 5. Case Resolution</a:t>
            </a:r>
            <a:endParaRPr lang="en-IN" sz="1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E31957-1EC2-87A7-C1C7-6ACD002DEFF6}"/>
              </a:ext>
            </a:extLst>
          </p:cNvPr>
          <p:cNvSpPr/>
          <p:nvPr/>
        </p:nvSpPr>
        <p:spPr>
          <a:xfrm>
            <a:off x="635000" y="5334000"/>
            <a:ext cx="10922000" cy="939800"/>
          </a:xfrm>
          <a:prstGeom prst="rect">
            <a:avLst/>
          </a:prstGeom>
          <a:solidFill>
            <a:srgbClr val="3C1016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F90D02-9507-45AF-A91B-5F75EBB0DFD2}"/>
              </a:ext>
            </a:extLst>
          </p:cNvPr>
          <p:cNvSpPr txBox="1"/>
          <p:nvPr/>
        </p:nvSpPr>
        <p:spPr>
          <a:xfrm>
            <a:off x="825500" y="5384800"/>
            <a:ext cx="10541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EF4444"/>
                </a:solidFill>
                <a:latin typeface="Segoe UI" panose="020B0502040204020203" pitchFamily="34" charset="0"/>
              </a:rPr>
              <a:t>MANDATORY PROTOTYPE DISCLOSURE &amp; DEMO STATEMENT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DEE98F-853D-BE33-AD37-123D0C128EFA}"/>
              </a:ext>
            </a:extLst>
          </p:cNvPr>
          <p:cNvSpPr txBox="1"/>
          <p:nvPr/>
        </p:nvSpPr>
        <p:spPr>
          <a:xfrm>
            <a:off x="825500" y="5638800"/>
            <a:ext cx="10541000" cy="3170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PulseBridge is an engineering prototype built for BUILDATHON 2.0. The current workflow utilizes local demo storage and an event bus to demonstrate end-to-end responder coordination. It does NOT connect to municipal emergency dispatch or live ambulance fleets. In real life emergencies across India, dial 112 immediately.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174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BFC609-4D4D-67F4-45D1-62F87D6046FA}"/>
              </a:ext>
            </a:extLst>
          </p:cNvPr>
          <p:cNvSpPr/>
          <p:nvPr/>
        </p:nvSpPr>
        <p:spPr>
          <a:xfrm>
            <a:off x="635000" y="304800"/>
            <a:ext cx="2032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IN" sz="850" b="1">
                <a:solidFill>
                  <a:srgbClr val="00E5FF"/>
                </a:solidFill>
                <a:latin typeface="Segoe UI" panose="020B0502040204020203" pitchFamily="34" charset="0"/>
              </a:rPr>
              <a:t>ROADMAP &amp;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889FF-A114-9303-8F6C-08E4483A5DF8}"/>
              </a:ext>
            </a:extLst>
          </p:cNvPr>
          <p:cNvSpPr txBox="1"/>
          <p:nvPr/>
        </p:nvSpPr>
        <p:spPr>
          <a:xfrm>
            <a:off x="609600" y="5842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Future Scope &amp; Platform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80A01-494D-FAA4-7F7F-94F1D93AC2A5}"/>
              </a:ext>
            </a:extLst>
          </p:cNvPr>
          <p:cNvSpPr txBox="1"/>
          <p:nvPr/>
        </p:nvSpPr>
        <p:spPr>
          <a:xfrm>
            <a:off x="609600" y="1016000"/>
            <a:ext cx="10922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Strategic pathway from hackathon prototype to enterprise emergency coordination network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83861-AE58-A187-A324-481591F939F0}"/>
              </a:ext>
            </a:extLst>
          </p:cNvPr>
          <p:cNvSpPr txBox="1"/>
          <p:nvPr/>
        </p:nvSpPr>
        <p:spPr>
          <a:xfrm>
            <a:off x="635000" y="6527800"/>
            <a:ext cx="10922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PulseBridge - Emergency Response Platform | BUILDATHON 2.0 (KNEW-2K26) | Slide 8 of 8</a:t>
            </a:r>
            <a:endParaRPr lang="en-IN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45B785-70FA-7EE3-C1EC-65540E0B54D4}"/>
              </a:ext>
            </a:extLst>
          </p:cNvPr>
          <p:cNvSpPr/>
          <p:nvPr/>
        </p:nvSpPr>
        <p:spPr>
          <a:xfrm>
            <a:off x="635000" y="1460500"/>
            <a:ext cx="5588000" cy="4762500"/>
          </a:xfrm>
          <a:prstGeom prst="rect">
            <a:avLst/>
          </a:prstGeom>
          <a:solidFill>
            <a:srgbClr val="0E1B33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18CB60-2A5B-2A70-94C6-FD3317CEBB64}"/>
              </a:ext>
            </a:extLst>
          </p:cNvPr>
          <p:cNvSpPr txBox="1"/>
          <p:nvPr/>
        </p:nvSpPr>
        <p:spPr>
          <a:xfrm>
            <a:off x="825500" y="1587500"/>
            <a:ext cx="5207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0E5FF"/>
                </a:solidFill>
                <a:latin typeface="Segoe UI" panose="020B0502040204020203" pitchFamily="34" charset="0"/>
              </a:rPr>
              <a:t>STRATEGIC FUTURE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5C570-F456-E6C0-60C7-F0787BBA04FB}"/>
              </a:ext>
            </a:extLst>
          </p:cNvPr>
          <p:cNvSpPr/>
          <p:nvPr/>
        </p:nvSpPr>
        <p:spPr>
          <a:xfrm>
            <a:off x="825500" y="1930400"/>
            <a:ext cx="254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tlCol="0" anchor="ctr"/>
          <a:lstStyle/>
          <a:p>
            <a:pPr algn="ctr"/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3AB8A-07B6-FBBF-6A96-8D0C82785F0D}"/>
              </a:ext>
            </a:extLst>
          </p:cNvPr>
          <p:cNvSpPr txBox="1"/>
          <p:nvPr/>
        </p:nvSpPr>
        <p:spPr>
          <a:xfrm>
            <a:off x="1206500" y="1905000"/>
            <a:ext cx="4826000" cy="253916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Segoe UI" panose="020B0502040204020203" pitchFamily="34" charset="0"/>
              </a:rPr>
              <a:t>Reliable GPS &amp; Location Verification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140A9-E750-0E2F-FE05-536F41A4652B}"/>
              </a:ext>
            </a:extLst>
          </p:cNvPr>
          <p:cNvSpPr txBox="1"/>
          <p:nvPr/>
        </p:nvSpPr>
        <p:spPr>
          <a:xfrm>
            <a:off x="1206500" y="2159000"/>
            <a:ext cx="4826000" cy="3170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Integrate Wi-Fi RTT, Bluetooth Low Energy (BLE) beacons, and building floorplans for sub-meter indoor positioning.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ED6D07-293B-EFE6-D88C-B5EA4B3C171B}"/>
              </a:ext>
            </a:extLst>
          </p:cNvPr>
          <p:cNvSpPr/>
          <p:nvPr/>
        </p:nvSpPr>
        <p:spPr>
          <a:xfrm>
            <a:off x="825500" y="2743200"/>
            <a:ext cx="254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tlCol="0" anchor="ctr"/>
          <a:lstStyle/>
          <a:p>
            <a:pPr algn="ctr"/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1CFE8-77F4-EBE8-5EF2-136AFD4596D7}"/>
              </a:ext>
            </a:extLst>
          </p:cNvPr>
          <p:cNvSpPr txBox="1"/>
          <p:nvPr/>
        </p:nvSpPr>
        <p:spPr>
          <a:xfrm>
            <a:off x="1206500" y="2717800"/>
            <a:ext cx="4826000" cy="253916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Segoe UI" panose="020B0502040204020203" pitchFamily="34" charset="0"/>
              </a:rPr>
              <a:t>Live Backend Synchronization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3A689-7CB2-3417-2A1A-C359C5C14500}"/>
              </a:ext>
            </a:extLst>
          </p:cNvPr>
          <p:cNvSpPr txBox="1"/>
          <p:nvPr/>
        </p:nvSpPr>
        <p:spPr>
          <a:xfrm>
            <a:off x="1206500" y="2971800"/>
            <a:ext cx="4826000" cy="3170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Deploy production WebSocket clusters and conflict-free replicated data types (CRDTs) for seamless offline-to-online sync.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239053-029F-699D-BA36-BBE3D67B3906}"/>
              </a:ext>
            </a:extLst>
          </p:cNvPr>
          <p:cNvSpPr/>
          <p:nvPr/>
        </p:nvSpPr>
        <p:spPr>
          <a:xfrm>
            <a:off x="825500" y="3556000"/>
            <a:ext cx="254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tlCol="0" anchor="ctr"/>
          <a:lstStyle/>
          <a:p>
            <a:pPr algn="ctr"/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62DB28-49E1-DB3A-127B-8029E9D9CD56}"/>
              </a:ext>
            </a:extLst>
          </p:cNvPr>
          <p:cNvSpPr txBox="1"/>
          <p:nvPr/>
        </p:nvSpPr>
        <p:spPr>
          <a:xfrm>
            <a:off x="1206500" y="3530600"/>
            <a:ext cx="4826000" cy="253916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Segoe UI" panose="020B0502040204020203" pitchFamily="34" charset="0"/>
              </a:rPr>
              <a:t>Secure Responder Authentication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12D177-D6CC-2C93-4AF7-6BFCEB44391B}"/>
              </a:ext>
            </a:extLst>
          </p:cNvPr>
          <p:cNvSpPr txBox="1"/>
          <p:nvPr/>
        </p:nvSpPr>
        <p:spPr>
          <a:xfrm>
            <a:off x="1206500" y="3784600"/>
            <a:ext cx="4826000" cy="3170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Institutional credential verification, paramedic licensing checks, and biometric authentication for dispatchers.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0667F-6C5A-3427-B407-98844BFE1F11}"/>
              </a:ext>
            </a:extLst>
          </p:cNvPr>
          <p:cNvSpPr/>
          <p:nvPr/>
        </p:nvSpPr>
        <p:spPr>
          <a:xfrm>
            <a:off x="825500" y="4368800"/>
            <a:ext cx="254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tlCol="0" anchor="ctr"/>
          <a:lstStyle/>
          <a:p>
            <a:pPr algn="ctr"/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03E314-4DB5-01B3-1357-BE0089559CB1}"/>
              </a:ext>
            </a:extLst>
          </p:cNvPr>
          <p:cNvSpPr txBox="1"/>
          <p:nvPr/>
        </p:nvSpPr>
        <p:spPr>
          <a:xfrm>
            <a:off x="1206500" y="4343400"/>
            <a:ext cx="4826000" cy="253916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Segoe UI" panose="020B0502040204020203" pitchFamily="34" charset="0"/>
              </a:rPr>
              <a:t>Verified Emergency-Service (112) Integrations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D4AB60-7FC9-DF97-D042-DACD937FD95D}"/>
              </a:ext>
            </a:extLst>
          </p:cNvPr>
          <p:cNvSpPr txBox="1"/>
          <p:nvPr/>
        </p:nvSpPr>
        <p:spPr>
          <a:xfrm>
            <a:off x="1206500" y="4597400"/>
            <a:ext cx="4826000" cy="3170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Establish official Computer-Aided Dispatch (CAD) API bridges with municipal public safety answering points.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3C21BF-57C5-2467-2B9C-9867CE62217A}"/>
              </a:ext>
            </a:extLst>
          </p:cNvPr>
          <p:cNvSpPr/>
          <p:nvPr/>
        </p:nvSpPr>
        <p:spPr>
          <a:xfrm>
            <a:off x="825500" y="5181600"/>
            <a:ext cx="254000" cy="254000"/>
          </a:xfrm>
          <a:prstGeom prst="rect">
            <a:avLst/>
          </a:prstGeom>
          <a:solidFill>
            <a:srgbClr val="13233F"/>
          </a:solidFill>
          <a:ln w="9525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tlCol="0" anchor="ctr"/>
          <a:lstStyle/>
          <a:p>
            <a:pPr algn="ctr"/>
            <a:r>
              <a:rPr lang="en-IN" sz="900" b="1">
                <a:solidFill>
                  <a:srgbClr val="00E5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1D6EB7-9B26-B9FF-A900-03D7F084C3D8}"/>
              </a:ext>
            </a:extLst>
          </p:cNvPr>
          <p:cNvSpPr txBox="1"/>
          <p:nvPr/>
        </p:nvSpPr>
        <p:spPr>
          <a:xfrm>
            <a:off x="1206500" y="5156200"/>
            <a:ext cx="4826000" cy="253916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Segoe UI" panose="020B0502040204020203" pitchFamily="34" charset="0"/>
              </a:rPr>
              <a:t>Real-Time Notifications &amp; Communication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1F21C-CE0C-FE57-E077-A593F79DDE2D}"/>
              </a:ext>
            </a:extLst>
          </p:cNvPr>
          <p:cNvSpPr txBox="1"/>
          <p:nvPr/>
        </p:nvSpPr>
        <p:spPr>
          <a:xfrm>
            <a:off x="1206500" y="5410200"/>
            <a:ext cx="4826000" cy="3170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80">
                <a:solidFill>
                  <a:srgbClr val="E2E8F0"/>
                </a:solidFill>
                <a:latin typeface="Segoe UI" panose="020B0502040204020203" pitchFamily="34" charset="0"/>
              </a:rPr>
              <a:t>Automated SMS/WhatsApp family crisis alerts, WebPush notifications, and low-latency WebRTC responder voice intercom.</a:t>
            </a:r>
            <a:endParaRPr lang="en-IN" sz="88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2CAB84-1DAB-1216-644F-D988AD17F101}"/>
              </a:ext>
            </a:extLst>
          </p:cNvPr>
          <p:cNvSpPr/>
          <p:nvPr/>
        </p:nvSpPr>
        <p:spPr>
          <a:xfrm>
            <a:off x="6477000" y="1460500"/>
            <a:ext cx="5080000" cy="4762500"/>
          </a:xfrm>
          <a:prstGeom prst="rect">
            <a:avLst/>
          </a:prstGeom>
          <a:solidFill>
            <a:srgbClr val="13233F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87EA9-E8E5-04EA-78F6-057E61E42BB8}"/>
              </a:ext>
            </a:extLst>
          </p:cNvPr>
          <p:cNvSpPr txBox="1"/>
          <p:nvPr/>
        </p:nvSpPr>
        <p:spPr>
          <a:xfrm>
            <a:off x="6731000" y="1714500"/>
            <a:ext cx="4572000" cy="523220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PulseBridge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930DC6-8DB7-E8B0-BD77-01D9F5BE103F}"/>
              </a:ext>
            </a:extLst>
          </p:cNvPr>
          <p:cNvSpPr/>
          <p:nvPr/>
        </p:nvSpPr>
        <p:spPr>
          <a:xfrm>
            <a:off x="6731000" y="2286000"/>
            <a:ext cx="4572000" cy="965200"/>
          </a:xfrm>
          <a:prstGeom prst="rect">
            <a:avLst/>
          </a:prstGeom>
          <a:solidFill>
            <a:srgbClr val="081020"/>
          </a:solidFill>
          <a:ln w="1270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5FEC1-9AAE-9A07-C1DC-54BDC62F31D9}"/>
              </a:ext>
            </a:extLst>
          </p:cNvPr>
          <p:cNvSpPr txBox="1"/>
          <p:nvPr/>
        </p:nvSpPr>
        <p:spPr>
          <a:xfrm>
            <a:off x="6883400" y="2413000"/>
            <a:ext cx="4267200" cy="4616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50" b="1">
                <a:solidFill>
                  <a:srgbClr val="00E5FF"/>
                </a:solidFill>
                <a:latin typeface="Segoe UI" panose="020B0502040204020203" pitchFamily="34" charset="0"/>
              </a:rPr>
              <a:t>"PulseBridge - Connecting Every Emergency to a Coordinated Response."</a:t>
            </a:r>
            <a:endParaRPr lang="en-IN" sz="1350" b="1">
              <a:solidFill>
                <a:srgbClr val="00E5FF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5DDD61-E397-7B2A-5439-1D9F87E322C0}"/>
              </a:ext>
            </a:extLst>
          </p:cNvPr>
          <p:cNvSpPr txBox="1"/>
          <p:nvPr/>
        </p:nvSpPr>
        <p:spPr>
          <a:xfrm>
            <a:off x="6731000" y="3492500"/>
            <a:ext cx="45720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Thank You Judging Panel &amp; Mentors!
We welcome your questions and live demonstration.</a:t>
            </a:r>
            <a:endParaRPr lang="en-IN" sz="11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709F12-7A51-EAED-D1C4-BF498961EB5C}"/>
              </a:ext>
            </a:extLst>
          </p:cNvPr>
          <p:cNvSpPr txBox="1"/>
          <p:nvPr/>
        </p:nvSpPr>
        <p:spPr>
          <a:xfrm>
            <a:off x="6731000" y="4127500"/>
            <a:ext cx="4572000" cy="140807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E2E8F0"/>
                </a:solidFill>
                <a:latin typeface="Segoe UI" panose="020B0502040204020203" pitchFamily="34" charset="0"/>
              </a:rPr>
              <a:t>BUILDATHON 2.0 | KNEW-2K26
Problem Statement: H4 - Emergency Health Assistance
Team Details (Editable):
* Presenters: [Lead Presenter, Member 2, Member 3]
* Institution: [College / University / Organization Name]
* Web Demo: shrihari12012007-web.github.io/Pulse-Bridge/
* GitHub: github.com/shrihari12012007-web/Pulse-Bridge</a:t>
            </a:r>
          </a:p>
        </p:txBody>
      </p:sp>
    </p:spTree>
    <p:extLst>
      <p:ext uri="{BB962C8B-B14F-4D97-AF65-F5344CB8AC3E}">
        <p14:creationId xmlns:p14="http://schemas.microsoft.com/office/powerpoint/2010/main" val="4076361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blinds/>
      </p:transition>
    </mc:Choice>
    <mc:Fallback>
      <p:transition>
        <p:blinds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2015</Words>
  <Application>Microsoft Office PowerPoint</Application>
  <PresentationFormat>Custom</PresentationFormat>
  <Paragraphs>158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 HARI S B</dc:creator>
  <cp:lastModifiedBy>SHREE HARI S B</cp:lastModifiedBy>
  <cp:revision>1</cp:revision>
  <dcterms:created xsi:type="dcterms:W3CDTF">2026-10-30T09:50:45Z</dcterms:created>
  <dcterms:modified xsi:type="dcterms:W3CDTF">2026-10-30T09:50:45Z</dcterms:modified>
</cp:coreProperties>
</file>